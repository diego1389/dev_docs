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6" r:id="rId15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74" d="100"/>
          <a:sy n="74" d="100"/>
        </p:scale>
        <p:origin x="576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77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57DE37D-B738-4817-B751-0C1B86D8B665}" type="datetime1">
              <a:rPr lang="es-ES" smtClean="0"/>
              <a:t>04/06/2018</a:t>
            </a:fld>
            <a:endParaRPr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45ACAF8E-318A-4EFE-8633-D9E72ABCE0ED}" type="slidenum">
              <a:rPr lang="es-ES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17BB30D9-D505-4352-B274-A1AB529BC646}" type="datetime1">
              <a:rPr lang="es-ES" smtClean="0"/>
              <a:pPr/>
              <a:t>04/06/2018</a:t>
            </a:fld>
            <a:endParaRPr lang="es-ES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5EE2CF44-2B13-41B4-A334-1CDF534EEBBF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39391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Rectángulo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es-ES" noProof="0" smtClean="0"/>
              <a:t>Haga clic para modificar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D1AE6EBB-BEC9-4000-8D95-40B44C4E2CA6}" type="datetime1">
              <a:rPr lang="es-ES" smtClean="0"/>
              <a:pPr/>
              <a:t>04/06/2018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rtlCol="0" anchor="b">
            <a:normAutofit/>
          </a:bodyPr>
          <a:lstStyle>
            <a:lvl1pPr algn="l" rtl="0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l" rtl="0">
              <a:buNone/>
              <a:defRPr sz="2000"/>
            </a:lvl2pPr>
            <a:lvl3pPr marL="914400" indent="0" algn="l" rtl="0">
              <a:buNone/>
              <a:defRPr sz="1800"/>
            </a:lvl3pPr>
            <a:lvl4pPr marL="1371600" indent="0" algn="l" rtl="0">
              <a:buNone/>
              <a:defRPr sz="1600"/>
            </a:lvl4pPr>
            <a:lvl5pPr marL="1828800" indent="0" algn="l" rtl="0">
              <a:buNone/>
              <a:defRPr sz="1600"/>
            </a:lvl5pPr>
            <a:lvl6pPr marL="2286000" indent="0" algn="l" rtl="0">
              <a:buNone/>
              <a:defRPr sz="1600"/>
            </a:lvl6pPr>
            <a:lvl7pPr marL="2743200" indent="0" algn="l" rtl="0">
              <a:buNone/>
              <a:defRPr sz="1600"/>
            </a:lvl7pPr>
            <a:lvl8pPr marL="3200400" indent="0" algn="l" rtl="0">
              <a:buNone/>
              <a:defRPr sz="1600"/>
            </a:lvl8pPr>
            <a:lvl9pPr marL="3657600" indent="0" algn="l" rtl="0">
              <a:buNone/>
              <a:defRPr sz="16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7CAF1BE7-5365-4137-AE14-A7C362FC891C}" type="datetime1">
              <a:rPr lang="es-ES" smtClean="0"/>
              <a:pPr/>
              <a:t>04/06/2018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CCE83AA6-4601-4BF7-BD54-99DD2B193FD1}" type="datetime1">
              <a:rPr lang="es-ES" smtClean="0"/>
              <a:pPr/>
              <a:t>04/06/2018</a:t>
            </a:fld>
            <a:endParaRPr lang="es-ES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noProof="0" smtClean="0"/>
              <a:pPr algn="r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808DBE58-23DC-4EE9-8158-B69AC44D4A43}" type="datetime1">
              <a:rPr lang="es-ES" smtClean="0"/>
              <a:pPr/>
              <a:t>04/06/2018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97C2EBBF-D49B-4842-B69E-CE552000DC09}" type="datetime1">
              <a:rPr lang="es-ES" smtClean="0"/>
              <a:pPr/>
              <a:t>04/06/2018</a:t>
            </a:fld>
            <a:endParaRPr lang="es-ES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>
            <a:lvl1pPr algn="l" rtl="0">
              <a:defRPr sz="34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algn="r"/>
            <a:fld id="{AF364E66-D00E-49A9-9E62-AB0485562249}" type="datetime1">
              <a:rPr lang="es-ES" smtClean="0"/>
              <a:pPr algn="r"/>
              <a:t>04/06/2018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31375A4-56A4-47D6-9801-1991572033F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600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rtlCol="0" anchor="b">
            <a:normAutofit/>
          </a:bodyPr>
          <a:lstStyle>
            <a:lvl1pPr algn="l" rtl="0">
              <a:defRPr sz="34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 rtlCol="0">
            <a:normAutofit/>
          </a:bodyPr>
          <a:lstStyle>
            <a:lvl1pPr marL="0" indent="0" algn="ctr" rtl="0">
              <a:buNone/>
              <a:defRPr sz="20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8EB92E29-7FB2-4284-9496-FE061DBF8A30}" type="datetime1">
              <a:rPr lang="es-ES" smtClean="0"/>
              <a:pPr/>
              <a:t>04/06/2018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FC1B432D-78E7-40AE-81C6-52773394A046}" type="datetime1">
              <a:rPr lang="es-ES" smtClean="0"/>
              <a:pPr/>
              <a:t>04/06/2018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algn="r"/>
            <a:fld id="{E062C603-371F-4D8B-AFB8-8337237C6271}" type="datetime1">
              <a:rPr lang="es-ES" smtClean="0"/>
              <a:pPr algn="r"/>
              <a:t>04/06/2018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F03D15E0-E6C7-48CB-A009-DF16BCB95302}" type="datetime1">
              <a:rPr lang="es-ES" smtClean="0"/>
              <a:pPr/>
              <a:t>04/06/2018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Firma Digital, Certificado Digital y PKI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 smtClean="0"/>
              <a:t>Jorge Ortiz Monge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601200" cy="1143000"/>
          </a:xfrm>
        </p:spPr>
        <p:txBody>
          <a:bodyPr rtlCol="0"/>
          <a:lstStyle/>
          <a:p>
            <a:pPr rtl="0"/>
            <a:r>
              <a:rPr lang="es-ES" dirty="0" smtClean="0"/>
              <a:t>Agenda</a:t>
            </a:r>
            <a:endParaRPr lang="es-ES" dirty="0"/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s-ES" dirty="0" smtClean="0"/>
              <a:t>Certificado Digital</a:t>
            </a:r>
            <a:endParaRPr lang="es-ES" dirty="0"/>
          </a:p>
          <a:p>
            <a:pPr rtl="0"/>
            <a:r>
              <a:rPr lang="es-ES" dirty="0" smtClean="0"/>
              <a:t>Firma Digital</a:t>
            </a:r>
            <a:endParaRPr lang="es-ES" dirty="0"/>
          </a:p>
          <a:p>
            <a:pPr rtl="0"/>
            <a:r>
              <a:rPr lang="es-ES" dirty="0" smtClean="0"/>
              <a:t>PKI</a:t>
            </a:r>
          </a:p>
          <a:p>
            <a:pPr rtl="0"/>
            <a:r>
              <a:rPr lang="es-ES" dirty="0" smtClean="0"/>
              <a:t>Dinámica ;)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Certificados</a:t>
            </a:r>
            <a:r>
              <a:rPr lang="en-US" dirty="0" smtClean="0"/>
              <a:t> </a:t>
            </a:r>
            <a:r>
              <a:rPr lang="en-US" dirty="0" err="1" smtClean="0"/>
              <a:t>Digitales</a:t>
            </a:r>
            <a:r>
              <a:rPr lang="en-US" dirty="0" smtClean="0"/>
              <a:t> – </a:t>
            </a:r>
            <a:r>
              <a:rPr lang="en-US" dirty="0" err="1" smtClean="0"/>
              <a:t>Qué</a:t>
            </a:r>
            <a:r>
              <a:rPr lang="en-US" dirty="0" smtClean="0"/>
              <a:t> son?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R" sz="3600" dirty="0" smtClean="0"/>
              <a:t>Son </a:t>
            </a:r>
            <a:r>
              <a:rPr lang="es-CR" sz="3600" dirty="0"/>
              <a:t>documentos digitales mediante el cual un tercero confiable (autoridad de certificación) garantiza la vinculación entre la identidad de un sujeto o entidad y su clave pública.</a:t>
            </a:r>
          </a:p>
        </p:txBody>
      </p:sp>
    </p:spTree>
    <p:extLst>
      <p:ext uri="{BB962C8B-B14F-4D97-AF65-F5344CB8AC3E}">
        <p14:creationId xmlns:p14="http://schemas.microsoft.com/office/powerpoint/2010/main" val="280581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Tipos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Soporte</a:t>
            </a:r>
            <a:r>
              <a:rPr lang="en-US" dirty="0" smtClean="0"/>
              <a:t> </a:t>
            </a:r>
            <a:r>
              <a:rPr lang="en-US" dirty="0" err="1" smtClean="0"/>
              <a:t>Rígido</a:t>
            </a:r>
            <a:r>
              <a:rPr lang="en-US" dirty="0" smtClean="0"/>
              <a:t>				</a:t>
            </a:r>
            <a:r>
              <a:rPr lang="en-US" dirty="0" err="1"/>
              <a:t>Soporte</a:t>
            </a:r>
            <a:r>
              <a:rPr lang="en-US" dirty="0"/>
              <a:t> Software</a:t>
            </a:r>
            <a:endParaRPr lang="es-CR" dirty="0"/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088" y="2403047"/>
            <a:ext cx="3152775" cy="36576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80" y="2375244"/>
            <a:ext cx="3600400" cy="233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6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Estados</a:t>
            </a:r>
            <a:r>
              <a:rPr lang="en-US" dirty="0" smtClean="0"/>
              <a:t> 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Válido</a:t>
            </a:r>
            <a:endParaRPr lang="en-US" dirty="0" smtClean="0"/>
          </a:p>
          <a:p>
            <a:r>
              <a:rPr lang="en-US" dirty="0" err="1" smtClean="0"/>
              <a:t>Revocado</a:t>
            </a:r>
            <a:endParaRPr lang="en-US" dirty="0" smtClean="0"/>
          </a:p>
          <a:p>
            <a:r>
              <a:rPr lang="en-US" dirty="0" err="1" smtClean="0"/>
              <a:t>Suspendido</a:t>
            </a:r>
            <a:endParaRPr lang="en-US" dirty="0" smtClean="0"/>
          </a:p>
          <a:p>
            <a:r>
              <a:rPr lang="en-US" dirty="0" smtClean="0"/>
              <a:t>No </a:t>
            </a:r>
            <a:r>
              <a:rPr lang="en-US" dirty="0" err="1" smtClean="0"/>
              <a:t>Reconocido</a:t>
            </a:r>
            <a:endParaRPr lang="es-C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2643187"/>
            <a:ext cx="643890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5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Firma Digital – Para </a:t>
            </a:r>
            <a:r>
              <a:rPr lang="en-US" dirty="0" err="1"/>
              <a:t>q</a:t>
            </a:r>
            <a:r>
              <a:rPr lang="en-US" dirty="0" err="1" smtClean="0"/>
              <a:t>ué</a:t>
            </a:r>
            <a:r>
              <a:rPr lang="en-US" dirty="0" smtClean="0"/>
              <a:t> son?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s-CR" sz="3200" dirty="0"/>
              <a:t>V</a:t>
            </a:r>
            <a:r>
              <a:rPr lang="es-CR" sz="3200" dirty="0" smtClean="0"/>
              <a:t>erificar </a:t>
            </a:r>
            <a:r>
              <a:rPr lang="es-CR" sz="3200" dirty="0"/>
              <a:t>la integridad del mensaje transmitido mediante la comprobación de la identidad del </a:t>
            </a:r>
            <a:r>
              <a:rPr lang="es-CR" sz="3200" dirty="0" smtClean="0"/>
              <a:t>remitente.</a:t>
            </a:r>
          </a:p>
          <a:p>
            <a:pPr algn="just"/>
            <a:r>
              <a:rPr lang="es-CR" sz="3200" dirty="0"/>
              <a:t>Garantizan la confidencialidad de la información </a:t>
            </a:r>
            <a:r>
              <a:rPr lang="es-CR" sz="3200" dirty="0" smtClean="0"/>
              <a:t>transmitida.</a:t>
            </a:r>
          </a:p>
        </p:txBody>
      </p:sp>
    </p:spTree>
    <p:extLst>
      <p:ext uri="{BB962C8B-B14F-4D97-AF65-F5344CB8AC3E}">
        <p14:creationId xmlns:p14="http://schemas.microsoft.com/office/powerpoint/2010/main" val="66817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Otra</a:t>
            </a:r>
            <a:r>
              <a:rPr lang="en-US" dirty="0" smtClean="0"/>
              <a:t> </a:t>
            </a:r>
            <a:r>
              <a:rPr lang="en-US" dirty="0" err="1" smtClean="0"/>
              <a:t>manera</a:t>
            </a:r>
            <a:r>
              <a:rPr lang="en-US" dirty="0" smtClean="0"/>
              <a:t> de </a:t>
            </a:r>
            <a:r>
              <a:rPr lang="en-US" dirty="0" err="1" smtClean="0"/>
              <a:t>entenderlo</a:t>
            </a:r>
            <a:r>
              <a:rPr lang="en-US" dirty="0" smtClean="0"/>
              <a:t>…</a:t>
            </a:r>
            <a:endParaRPr lang="es-CR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1624" y="1615294"/>
            <a:ext cx="7391468" cy="512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37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Cómo</a:t>
            </a:r>
            <a:r>
              <a:rPr lang="en-US" dirty="0" smtClean="0"/>
              <a:t> </a:t>
            </a:r>
            <a:r>
              <a:rPr lang="en-US" dirty="0" err="1" smtClean="0"/>
              <a:t>funciona</a:t>
            </a:r>
            <a:r>
              <a:rPr lang="en-US" dirty="0" smtClean="0"/>
              <a:t>?</a:t>
            </a:r>
            <a:endParaRPr lang="es-CR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28" y="0"/>
            <a:ext cx="4104456" cy="687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1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/>
              <a:t>Infraestructura</a:t>
            </a:r>
            <a:r>
              <a:rPr lang="en-US" sz="3200" dirty="0" smtClean="0"/>
              <a:t> de </a:t>
            </a:r>
            <a:r>
              <a:rPr lang="en-US" sz="3200" dirty="0" err="1" smtClean="0"/>
              <a:t>Llave</a:t>
            </a:r>
            <a:r>
              <a:rPr lang="en-US" sz="3200" dirty="0" smtClean="0"/>
              <a:t> </a:t>
            </a:r>
            <a:r>
              <a:rPr lang="en-US" sz="3200" dirty="0" err="1" smtClean="0"/>
              <a:t>Pública</a:t>
            </a:r>
            <a:r>
              <a:rPr lang="en-US" sz="3200" dirty="0" smtClean="0"/>
              <a:t> - PKI</a:t>
            </a:r>
            <a:endParaRPr lang="es-CR" sz="32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R" dirty="0" smtClean="0"/>
              <a:t>Utiliza </a:t>
            </a:r>
            <a:r>
              <a:rPr lang="es-CR" dirty="0"/>
              <a:t>criptografía básica para codificar un mensaje en tránsito, mientras permite que el receptor pueda </a:t>
            </a:r>
            <a:r>
              <a:rPr lang="es-CR" dirty="0" smtClean="0"/>
              <a:t>descifrarlo.</a:t>
            </a:r>
          </a:p>
          <a:p>
            <a:pPr algn="just"/>
            <a:r>
              <a:rPr lang="es-CR" dirty="0" smtClean="0"/>
              <a:t>Permite </a:t>
            </a:r>
            <a:r>
              <a:rPr lang="es-CR" dirty="0"/>
              <a:t>el intercambio de claves privadas y </a:t>
            </a:r>
            <a:r>
              <a:rPr lang="es-CR" dirty="0" smtClean="0"/>
              <a:t>públicas, </a:t>
            </a:r>
            <a:r>
              <a:rPr lang="es-CR" dirty="0"/>
              <a:t>y autentifica las firmas </a:t>
            </a:r>
            <a:r>
              <a:rPr lang="es-CR" dirty="0" smtClean="0"/>
              <a:t>digitales.</a:t>
            </a:r>
          </a:p>
          <a:p>
            <a:pPr algn="just"/>
            <a:r>
              <a:rPr lang="es-CR" dirty="0"/>
              <a:t>El cifrado </a:t>
            </a:r>
            <a:r>
              <a:rPr lang="es-CR" dirty="0" smtClean="0"/>
              <a:t>involucra </a:t>
            </a:r>
            <a:r>
              <a:rPr lang="es-CR" dirty="0"/>
              <a:t>un par de claves asimétricas que constan de una clave privada y una clave </a:t>
            </a:r>
            <a:r>
              <a:rPr lang="es-CR" dirty="0" smtClean="0"/>
              <a:t>pública</a:t>
            </a:r>
          </a:p>
          <a:p>
            <a:pPr algn="just"/>
            <a:r>
              <a:rPr lang="es-CR" dirty="0"/>
              <a:t>La clave pública se distribuye a todos los destinatarios, mientras que la clave privada se mantiene como </a:t>
            </a:r>
            <a:r>
              <a:rPr lang="es-CR" dirty="0" smtClean="0"/>
              <a:t>tal.</a:t>
            </a:r>
          </a:p>
          <a:p>
            <a:pPr algn="just"/>
            <a:r>
              <a:rPr lang="es-CR" dirty="0"/>
              <a:t>La Información que está cifrada con la clave privada puede descifrarse únicamente con la clave pública. Por otra parte, la información </a:t>
            </a:r>
            <a:r>
              <a:rPr lang="es-CR" dirty="0" err="1"/>
              <a:t>encriptada</a:t>
            </a:r>
            <a:r>
              <a:rPr lang="es-CR" dirty="0"/>
              <a:t> con la clave pública necesita descifrarse con la clave privada.</a:t>
            </a:r>
          </a:p>
        </p:txBody>
      </p:sp>
    </p:spTree>
    <p:extLst>
      <p:ext uri="{BB962C8B-B14F-4D97-AF65-F5344CB8AC3E}">
        <p14:creationId xmlns:p14="http://schemas.microsoft.com/office/powerpoint/2010/main" val="1798845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Como </a:t>
            </a:r>
            <a:r>
              <a:rPr lang="en-US" dirty="0" err="1" smtClean="0"/>
              <a:t>funciona</a:t>
            </a:r>
            <a:r>
              <a:rPr lang="en-US" dirty="0" smtClean="0"/>
              <a:t> la PKI?</a:t>
            </a:r>
            <a:endParaRPr lang="es-CR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51" y="1600200"/>
            <a:ext cx="10497498" cy="5002834"/>
          </a:xfrm>
        </p:spPr>
      </p:pic>
    </p:spTree>
    <p:extLst>
      <p:ext uri="{BB962C8B-B14F-4D97-AF65-F5344CB8AC3E}">
        <p14:creationId xmlns:p14="http://schemas.microsoft.com/office/powerpoint/2010/main" val="253617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Muchas</a:t>
            </a:r>
            <a:r>
              <a:rPr lang="en-US" dirty="0" smtClean="0"/>
              <a:t> Gracias!!</a:t>
            </a:r>
            <a:endParaRPr lang="es-C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2028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quipo informático 16 × 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1791_TF02901026_TF02901026.potx" id="{542403D4-CC65-4431-A4E3-55163509A0B1}" vid="{AF8CDC02-FD01-4345-AAA1-0E99693BFDBD}"/>
    </a:ext>
  </a:extLst>
</a:theme>
</file>

<file path=ppt/theme/theme2.xml><?xml version="1.0" encoding="utf-8"?>
<a:theme xmlns:a="http://schemas.openxmlformats.org/drawingml/2006/main" name="Tema de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1566889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2012-05-23T08:44:00+00:00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TP102901017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836753</LocLastLocAttemptVersionLookup>
    <IsSearchable xmlns="4873beb7-5857-4685-be1f-d57550cc96cc">true</IsSearchable>
    <TemplateTemplateType xmlns="4873beb7-5857-4685-be1f-d57550cc96cc">PowerPoint Design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REDMOND\v-anij</DisplayName>
        <AccountId>2469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B5C6E15-39DC-470B-9445-F754B94580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098515-0C12-46CF-BC7C-69B4A13CD5FA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3.xml><?xml version="1.0" encoding="utf-8"?>
<ds:datastoreItem xmlns:ds="http://schemas.openxmlformats.org/officeDocument/2006/customXml" ds:itemID="{746CFF6F-D9AA-4BC0-911A-0A13567719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diseño de circuito tecnológico de empresa (panorámica)</Template>
  <TotalTime>0</TotalTime>
  <Words>222</Words>
  <Application>Microsoft Office PowerPoint</Application>
  <PresentationFormat>Panorámica</PresentationFormat>
  <Paragraphs>35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Candara</vt:lpstr>
      <vt:lpstr>Consolas</vt:lpstr>
      <vt:lpstr>Equipo informático 16 × 9</vt:lpstr>
      <vt:lpstr>Firma Digital, Certificado Digital y PKI</vt:lpstr>
      <vt:lpstr>Agenda</vt:lpstr>
      <vt:lpstr>Certificados Digitales – Qué son?</vt:lpstr>
      <vt:lpstr>Tipos</vt:lpstr>
      <vt:lpstr>Estados </vt:lpstr>
      <vt:lpstr>Firma Digital – Para qué son?</vt:lpstr>
      <vt:lpstr>Otra manera de entenderlo…</vt:lpstr>
      <vt:lpstr>Cómo funciona?</vt:lpstr>
      <vt:lpstr>Infraestructura de Llave Pública - PKI</vt:lpstr>
      <vt:lpstr>Como funciona la PKI?</vt:lpstr>
      <vt:lpstr>Muchas Gracias!!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2018-04-24T14:52:40Z</dcterms:created>
  <dcterms:modified xsi:type="dcterms:W3CDTF">2018-06-04T20:03:21Z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