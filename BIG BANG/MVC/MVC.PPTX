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sldIdLst>
    <p:sldId id="256" r:id="rId2"/>
    <p:sldId id="258" r:id="rId3"/>
    <p:sldId id="267" r:id="rId4"/>
    <p:sldId id="266" r:id="rId5"/>
    <p:sldId id="268" r:id="rId6"/>
    <p:sldId id="257" r:id="rId7"/>
    <p:sldId id="259" r:id="rId8"/>
    <p:sldId id="260" r:id="rId9"/>
    <p:sldId id="261" r:id="rId10"/>
    <p:sldId id="269" r:id="rId11"/>
    <p:sldId id="262" r:id="rId12"/>
    <p:sldId id="263" r:id="rId13"/>
    <p:sldId id="265" r:id="rId14"/>
    <p:sldId id="264" r:id="rId15"/>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68" d="100"/>
          <a:sy n="68" d="100"/>
        </p:scale>
        <p:origin x="90"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7E80DE-6604-4498-B4C2-5A43D556F595}" type="doc">
      <dgm:prSet loTypeId="urn:microsoft.com/office/officeart/2005/8/layout/gear1" loCatId="process" qsTypeId="urn:microsoft.com/office/officeart/2005/8/quickstyle/simple1" qsCatId="simple" csTypeId="urn:microsoft.com/office/officeart/2005/8/colors/accent1_2" csCatId="accent1" phldr="1"/>
      <dgm:spPr/>
    </dgm:pt>
    <dgm:pt modelId="{7853E135-AD95-4583-A93A-49B5B803361B}">
      <dgm:prSet phldrT="[Texto]"/>
      <dgm:spPr/>
      <dgm:t>
        <a:bodyPr/>
        <a:lstStyle/>
        <a:p>
          <a:r>
            <a:rPr lang="en-US" dirty="0" err="1" smtClean="0"/>
            <a:t>Controlador</a:t>
          </a:r>
          <a:endParaRPr lang="es-CR" dirty="0"/>
        </a:p>
      </dgm:t>
    </dgm:pt>
    <dgm:pt modelId="{667C11C9-7B35-4CBF-995D-FC63FB92E0B8}" type="parTrans" cxnId="{126AF4AD-A329-4E0D-B2B9-2345B6ED893D}">
      <dgm:prSet/>
      <dgm:spPr/>
      <dgm:t>
        <a:bodyPr/>
        <a:lstStyle/>
        <a:p>
          <a:endParaRPr lang="es-CR"/>
        </a:p>
      </dgm:t>
    </dgm:pt>
    <dgm:pt modelId="{AB61E7E0-A63F-425D-82C6-7B5F7024CAEC}" type="sibTrans" cxnId="{126AF4AD-A329-4E0D-B2B9-2345B6ED893D}">
      <dgm:prSet/>
      <dgm:spPr/>
      <dgm:t>
        <a:bodyPr/>
        <a:lstStyle/>
        <a:p>
          <a:endParaRPr lang="es-CR"/>
        </a:p>
      </dgm:t>
    </dgm:pt>
    <dgm:pt modelId="{11E68ED8-20A7-413D-BCAD-3C2AA0654226}" type="pres">
      <dgm:prSet presAssocID="{A77E80DE-6604-4498-B4C2-5A43D556F595}" presName="composite" presStyleCnt="0">
        <dgm:presLayoutVars>
          <dgm:chMax val="3"/>
          <dgm:animLvl val="lvl"/>
          <dgm:resizeHandles val="exact"/>
        </dgm:presLayoutVars>
      </dgm:prSet>
      <dgm:spPr/>
    </dgm:pt>
    <dgm:pt modelId="{D1234315-4772-4FDD-AD03-E8C41FA01E69}" type="pres">
      <dgm:prSet presAssocID="{7853E135-AD95-4583-A93A-49B5B803361B}" presName="gear1" presStyleLbl="node1" presStyleIdx="0" presStyleCnt="1" custLinFactNeighborX="38870" custLinFactNeighborY="-49654">
        <dgm:presLayoutVars>
          <dgm:chMax val="1"/>
          <dgm:bulletEnabled val="1"/>
        </dgm:presLayoutVars>
      </dgm:prSet>
      <dgm:spPr/>
    </dgm:pt>
    <dgm:pt modelId="{605804D9-14BB-4D2E-9C77-62D80B7902C0}" type="pres">
      <dgm:prSet presAssocID="{7853E135-AD95-4583-A93A-49B5B803361B}" presName="gear1srcNode" presStyleLbl="node1" presStyleIdx="0" presStyleCnt="1"/>
      <dgm:spPr/>
    </dgm:pt>
    <dgm:pt modelId="{D28EE3F7-741A-4684-A4AA-FD5036DB2AAF}" type="pres">
      <dgm:prSet presAssocID="{7853E135-AD95-4583-A93A-49B5B803361B}" presName="gear1dstNode" presStyleLbl="node1" presStyleIdx="0" presStyleCnt="1"/>
      <dgm:spPr/>
    </dgm:pt>
    <dgm:pt modelId="{572C596C-EBA5-4805-88A7-7DD42655A009}" type="pres">
      <dgm:prSet presAssocID="{AB61E7E0-A63F-425D-82C6-7B5F7024CAEC}" presName="connector1" presStyleLbl="sibTrans2D1" presStyleIdx="0" presStyleCnt="1" custLinFactNeighborX="24378" custLinFactNeighborY="-36786"/>
      <dgm:spPr/>
    </dgm:pt>
  </dgm:ptLst>
  <dgm:cxnLst>
    <dgm:cxn modelId="{126AF4AD-A329-4E0D-B2B9-2345B6ED893D}" srcId="{A77E80DE-6604-4498-B4C2-5A43D556F595}" destId="{7853E135-AD95-4583-A93A-49B5B803361B}" srcOrd="0" destOrd="0" parTransId="{667C11C9-7B35-4CBF-995D-FC63FB92E0B8}" sibTransId="{AB61E7E0-A63F-425D-82C6-7B5F7024CAEC}"/>
    <dgm:cxn modelId="{03125CF9-16BA-4DC3-BDE9-55C0D9713BBB}" type="presOf" srcId="{7853E135-AD95-4583-A93A-49B5B803361B}" destId="{D1234315-4772-4FDD-AD03-E8C41FA01E69}" srcOrd="0" destOrd="0" presId="urn:microsoft.com/office/officeart/2005/8/layout/gear1"/>
    <dgm:cxn modelId="{972A09DA-40FF-4F61-983E-78B83E213BEE}" type="presOf" srcId="{7853E135-AD95-4583-A93A-49B5B803361B}" destId="{605804D9-14BB-4D2E-9C77-62D80B7902C0}" srcOrd="1" destOrd="0" presId="urn:microsoft.com/office/officeart/2005/8/layout/gear1"/>
    <dgm:cxn modelId="{1FD26AFB-0EEA-4C80-9C8D-145CB074B3DF}" type="presOf" srcId="{AB61E7E0-A63F-425D-82C6-7B5F7024CAEC}" destId="{572C596C-EBA5-4805-88A7-7DD42655A009}" srcOrd="0" destOrd="0" presId="urn:microsoft.com/office/officeart/2005/8/layout/gear1"/>
    <dgm:cxn modelId="{8E32AFD2-0EEB-4414-9571-F30EAA527D78}" type="presOf" srcId="{A77E80DE-6604-4498-B4C2-5A43D556F595}" destId="{11E68ED8-20A7-413D-BCAD-3C2AA0654226}" srcOrd="0" destOrd="0" presId="urn:microsoft.com/office/officeart/2005/8/layout/gear1"/>
    <dgm:cxn modelId="{133414BD-5A98-4406-B741-5611ECB8D0EF}" type="presOf" srcId="{7853E135-AD95-4583-A93A-49B5B803361B}" destId="{D28EE3F7-741A-4684-A4AA-FD5036DB2AAF}" srcOrd="2" destOrd="0" presId="urn:microsoft.com/office/officeart/2005/8/layout/gear1"/>
    <dgm:cxn modelId="{BADDF7E8-C6D5-4F89-84E5-78911DA1C0FB}" type="presParOf" srcId="{11E68ED8-20A7-413D-BCAD-3C2AA0654226}" destId="{D1234315-4772-4FDD-AD03-E8C41FA01E69}" srcOrd="0" destOrd="0" presId="urn:microsoft.com/office/officeart/2005/8/layout/gear1"/>
    <dgm:cxn modelId="{A41AD1D8-164B-40B2-8B8D-9DE2F04EC38D}" type="presParOf" srcId="{11E68ED8-20A7-413D-BCAD-3C2AA0654226}" destId="{605804D9-14BB-4D2E-9C77-62D80B7902C0}" srcOrd="1" destOrd="0" presId="urn:microsoft.com/office/officeart/2005/8/layout/gear1"/>
    <dgm:cxn modelId="{A532090F-F9BF-4BAA-8718-650253E5B00C}" type="presParOf" srcId="{11E68ED8-20A7-413D-BCAD-3C2AA0654226}" destId="{D28EE3F7-741A-4684-A4AA-FD5036DB2AAF}" srcOrd="2" destOrd="0" presId="urn:microsoft.com/office/officeart/2005/8/layout/gear1"/>
    <dgm:cxn modelId="{73172A55-CD19-4831-B1CE-D7CD22AC7FD7}" type="presParOf" srcId="{11E68ED8-20A7-413D-BCAD-3C2AA0654226}" destId="{572C596C-EBA5-4805-88A7-7DD42655A009}" srcOrd="3"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34315-4772-4FDD-AD03-E8C41FA01E69}">
      <dsp:nvSpPr>
        <dsp:cNvPr id="0" name=""/>
        <dsp:cNvSpPr/>
      </dsp:nvSpPr>
      <dsp:spPr>
        <a:xfrm>
          <a:off x="1764269" y="0"/>
          <a:ext cx="1557833" cy="1557833"/>
        </a:xfrm>
        <a:prstGeom prst="gear9">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err="1" smtClean="0"/>
            <a:t>Controlador</a:t>
          </a:r>
          <a:endParaRPr lang="es-CR" sz="1200" kern="1200" dirty="0"/>
        </a:p>
      </dsp:txBody>
      <dsp:txXfrm>
        <a:off x="2077463" y="364915"/>
        <a:ext cx="931445" cy="800758"/>
      </dsp:txXfrm>
    </dsp:sp>
    <dsp:sp modelId="{572C596C-EBA5-4805-88A7-7DD42655A009}">
      <dsp:nvSpPr>
        <dsp:cNvPr id="0" name=""/>
        <dsp:cNvSpPr/>
      </dsp:nvSpPr>
      <dsp:spPr>
        <a:xfrm>
          <a:off x="1665431" y="-244572"/>
          <a:ext cx="1916135" cy="1916135"/>
        </a:xfrm>
        <a:prstGeom prst="circularArrow">
          <a:avLst>
            <a:gd name="adj1" fmla="val 4878"/>
            <a:gd name="adj2" fmla="val 312630"/>
            <a:gd name="adj3" fmla="val 3016206"/>
            <a:gd name="adj4" fmla="val 15402902"/>
            <a:gd name="adj5" fmla="val 569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5" name="Footer Placeholder 4"/>
          <p:cNvSpPr>
            <a:spLocks noGrp="1"/>
          </p:cNvSpPr>
          <p:nvPr>
            <p:ph type="ftr" sz="quarter" idx="11"/>
          </p:nvPr>
        </p:nvSpPr>
        <p:spPr/>
        <p:txBody>
          <a:bodyPr/>
          <a:lstStyle/>
          <a:p>
            <a:endParaRPr lang="es-CR"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2315949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5" name="Footer Placeholder 4"/>
          <p:cNvSpPr>
            <a:spLocks noGrp="1"/>
          </p:cNvSpPr>
          <p:nvPr>
            <p:ph type="ftr" sz="quarter" idx="11"/>
          </p:nvPr>
        </p:nvSpPr>
        <p:spPr/>
        <p:txBody>
          <a:bodyPr/>
          <a:lstStyle/>
          <a:p>
            <a:endParaRPr lang="es-CR"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1590779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5" name="Footer Placeholder 4"/>
          <p:cNvSpPr>
            <a:spLocks noGrp="1"/>
          </p:cNvSpPr>
          <p:nvPr>
            <p:ph type="ftr" sz="quarter" idx="11"/>
          </p:nvPr>
        </p:nvSpPr>
        <p:spPr/>
        <p:txBody>
          <a:bodyPr/>
          <a:lstStyle/>
          <a:p>
            <a:endParaRPr lang="es-CR"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3772467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6" name="Footer Placeholder 5"/>
          <p:cNvSpPr>
            <a:spLocks noGrp="1"/>
          </p:cNvSpPr>
          <p:nvPr>
            <p:ph type="ftr" sz="quarter" idx="11"/>
          </p:nvPr>
        </p:nvSpPr>
        <p:spPr/>
        <p:txBody>
          <a:bodyPr/>
          <a:lstStyle/>
          <a:p>
            <a:endParaRPr lang="es-CR"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3071797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8" name="Footer Placeholder 7"/>
          <p:cNvSpPr>
            <a:spLocks noGrp="1"/>
          </p:cNvSpPr>
          <p:nvPr>
            <p:ph type="ftr" sz="quarter" idx="11"/>
          </p:nvPr>
        </p:nvSpPr>
        <p:spPr/>
        <p:txBody>
          <a:bodyPr/>
          <a:lstStyle/>
          <a:p>
            <a:endParaRPr lang="es-CR"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311989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4" name="Footer Placeholder 3"/>
          <p:cNvSpPr>
            <a:spLocks noGrp="1"/>
          </p:cNvSpPr>
          <p:nvPr>
            <p:ph type="ftr" sz="quarter" idx="11"/>
          </p:nvPr>
        </p:nvSpPr>
        <p:spPr/>
        <p:txBody>
          <a:bodyPr/>
          <a:lstStyle/>
          <a:p>
            <a:endParaRPr lang="es-CR"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2788806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3" name="Footer Placeholder 2"/>
          <p:cNvSpPr>
            <a:spLocks noGrp="1"/>
          </p:cNvSpPr>
          <p:nvPr>
            <p:ph type="ftr" sz="quarter" idx="11"/>
          </p:nvPr>
        </p:nvSpPr>
        <p:spPr/>
        <p:txBody>
          <a:bodyPr/>
          <a:lstStyle/>
          <a:p>
            <a:endParaRPr lang="es-CR"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1355925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6" name="Footer Placeholder 5"/>
          <p:cNvSpPr>
            <a:spLocks noGrp="1"/>
          </p:cNvSpPr>
          <p:nvPr>
            <p:ph type="ftr" sz="quarter" idx="11"/>
          </p:nvPr>
        </p:nvSpPr>
        <p:spPr/>
        <p:txBody>
          <a:bodyPr/>
          <a:lstStyle/>
          <a:p>
            <a:endParaRPr lang="es-CR"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2630438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6" name="Footer Placeholder 5"/>
          <p:cNvSpPr>
            <a:spLocks noGrp="1"/>
          </p:cNvSpPr>
          <p:nvPr>
            <p:ph type="ftr" sz="quarter" idx="11"/>
          </p:nvPr>
        </p:nvSpPr>
        <p:spPr/>
        <p:txBody>
          <a:bodyPr/>
          <a:lstStyle/>
          <a:p>
            <a:endParaRPr lang="es-CR"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13222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5" name="Footer Placeholder 4"/>
          <p:cNvSpPr>
            <a:spLocks noGrp="1"/>
          </p:cNvSpPr>
          <p:nvPr>
            <p:ph type="ftr" sz="quarter" idx="11"/>
          </p:nvPr>
        </p:nvSpPr>
        <p:spPr/>
        <p:txBody>
          <a:bodyPr/>
          <a:lstStyle/>
          <a:p>
            <a:endParaRPr lang="es-CR"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2721855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5" name="Footer Placeholder 4"/>
          <p:cNvSpPr>
            <a:spLocks noGrp="1"/>
          </p:cNvSpPr>
          <p:nvPr>
            <p:ph type="ftr" sz="quarter" idx="11"/>
          </p:nvPr>
        </p:nvSpPr>
        <p:spPr/>
        <p:txBody>
          <a:bodyPr/>
          <a:lstStyle/>
          <a:p>
            <a:endParaRPr lang="es-CR"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6FEBDD-1F78-4D38-BFA9-641E5938053D}" type="slidenum">
              <a:rPr lang="es-CR" smtClean="0"/>
              <a:t>‹Nº›</a:t>
            </a:fld>
            <a:endParaRPr lang="es-CR"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39701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6" name="Footer Placeholder 5"/>
          <p:cNvSpPr>
            <a:spLocks noGrp="1"/>
          </p:cNvSpPr>
          <p:nvPr>
            <p:ph type="ftr" sz="quarter" idx="11"/>
          </p:nvPr>
        </p:nvSpPr>
        <p:spPr/>
        <p:txBody>
          <a:bodyPr/>
          <a:lstStyle/>
          <a:p>
            <a:endParaRPr lang="es-CR"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3287054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6" name="Footer Placeholder 5"/>
          <p:cNvSpPr>
            <a:spLocks noGrp="1"/>
          </p:cNvSpPr>
          <p:nvPr>
            <p:ph type="ftr" sz="quarter" idx="11"/>
          </p:nvPr>
        </p:nvSpPr>
        <p:spPr/>
        <p:txBody>
          <a:bodyPr/>
          <a:lstStyle/>
          <a:p>
            <a:endParaRPr lang="es-CR"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6FEBDD-1F78-4D38-BFA9-641E5938053D}" type="slidenum">
              <a:rPr lang="es-CR" smtClean="0"/>
              <a:t>‹Nº›</a:t>
            </a:fld>
            <a:endParaRPr lang="es-CR"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77171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6" name="Footer Placeholder 5"/>
          <p:cNvSpPr>
            <a:spLocks noGrp="1"/>
          </p:cNvSpPr>
          <p:nvPr>
            <p:ph type="ftr" sz="quarter" idx="11"/>
          </p:nvPr>
        </p:nvSpPr>
        <p:spPr/>
        <p:txBody>
          <a:bodyPr/>
          <a:lstStyle/>
          <a:p>
            <a:endParaRPr lang="es-CR"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4274771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5" name="Footer Placeholder 4"/>
          <p:cNvSpPr>
            <a:spLocks noGrp="1"/>
          </p:cNvSpPr>
          <p:nvPr>
            <p:ph type="ftr" sz="quarter" idx="11"/>
          </p:nvPr>
        </p:nvSpPr>
        <p:spPr/>
        <p:txBody>
          <a:bodyPr/>
          <a:lstStyle/>
          <a:p>
            <a:endParaRPr lang="es-CR"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2997897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B77E1C8-0918-4C97-BDCF-504B21D47D56}" type="datetimeFigureOut">
              <a:rPr lang="es-CR" smtClean="0"/>
              <a:t>20/3/2018</a:t>
            </a:fld>
            <a:endParaRPr lang="es-CR" dirty="0"/>
          </a:p>
        </p:txBody>
      </p:sp>
      <p:sp>
        <p:nvSpPr>
          <p:cNvPr id="5" name="Footer Placeholder 4"/>
          <p:cNvSpPr>
            <a:spLocks noGrp="1"/>
          </p:cNvSpPr>
          <p:nvPr>
            <p:ph type="ftr" sz="quarter" idx="11"/>
          </p:nvPr>
        </p:nvSpPr>
        <p:spPr/>
        <p:txBody>
          <a:bodyPr/>
          <a:lstStyle/>
          <a:p>
            <a:endParaRPr lang="es-CR"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6FEBDD-1F78-4D38-BFA9-641E5938053D}" type="slidenum">
              <a:rPr lang="es-CR" smtClean="0"/>
              <a:t>‹Nº›</a:t>
            </a:fld>
            <a:endParaRPr lang="es-CR" dirty="0"/>
          </a:p>
        </p:txBody>
      </p:sp>
    </p:spTree>
    <p:extLst>
      <p:ext uri="{BB962C8B-B14F-4D97-AF65-F5344CB8AC3E}">
        <p14:creationId xmlns:p14="http://schemas.microsoft.com/office/powerpoint/2010/main" val="2926329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B77E1C8-0918-4C97-BDCF-504B21D47D56}" type="datetimeFigureOut">
              <a:rPr lang="es-CR" smtClean="0"/>
              <a:t>20/3/2018</a:t>
            </a:fld>
            <a:endParaRPr lang="es-CR"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R"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16FEBDD-1F78-4D38-BFA9-641E5938053D}" type="slidenum">
              <a:rPr lang="es-CR" smtClean="0"/>
              <a:t>‹Nº›</a:t>
            </a:fld>
            <a:endParaRPr lang="es-CR" dirty="0"/>
          </a:p>
        </p:txBody>
      </p:sp>
    </p:spTree>
    <p:extLst>
      <p:ext uri="{BB962C8B-B14F-4D97-AF65-F5344CB8AC3E}">
        <p14:creationId xmlns:p14="http://schemas.microsoft.com/office/powerpoint/2010/main" val="3802944849"/>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ocs.microsoft.com/en-us/aspnet/web-pages/overview/ui-layouts-and-themes/creating-and-using-a-helper-in-an-aspnet-web-pages-sit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s.wikipedia.org/w/index.php?title=ASP.NET_Web_Forms&amp;action=edit&amp;redlink=1" TargetMode="External"/><Relationship Id="rId2" Type="http://schemas.openxmlformats.org/officeDocument/2006/relationships/hyperlink" Target="https://es.wikipedia.org/wiki/URL" TargetMode="Externa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es.wikipedia.org/wiki/ASP.NET_MVC_Framework"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www.juntadeandalucia.es/servicios/madeja/contenido/recurso/12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R" sz="6600" dirty="0" smtClean="0"/>
              <a:t>MVC</a:t>
            </a:r>
            <a:endParaRPr lang="es-CR" dirty="0"/>
          </a:p>
        </p:txBody>
      </p:sp>
      <p:sp>
        <p:nvSpPr>
          <p:cNvPr id="3" name="Subtítulo 2"/>
          <p:cNvSpPr>
            <a:spLocks noGrp="1"/>
          </p:cNvSpPr>
          <p:nvPr>
            <p:ph type="subTitle" idx="1"/>
          </p:nvPr>
        </p:nvSpPr>
        <p:spPr/>
        <p:txBody>
          <a:bodyPr>
            <a:normAutofit/>
          </a:bodyPr>
          <a:lstStyle/>
          <a:p>
            <a:r>
              <a:rPr lang="en-US" sz="2400" dirty="0" err="1" smtClean="0"/>
              <a:t>Modelo</a:t>
            </a:r>
            <a:r>
              <a:rPr lang="en-US" sz="2400" dirty="0" smtClean="0"/>
              <a:t> – vista - </a:t>
            </a:r>
            <a:r>
              <a:rPr lang="en-US" sz="2400" dirty="0" err="1" smtClean="0"/>
              <a:t>Controlador</a:t>
            </a:r>
            <a:endParaRPr lang="es-CR" sz="2400" dirty="0"/>
          </a:p>
        </p:txBody>
      </p:sp>
    </p:spTree>
    <p:extLst>
      <p:ext uri="{BB962C8B-B14F-4D97-AF65-F5344CB8AC3E}">
        <p14:creationId xmlns:p14="http://schemas.microsoft.com/office/powerpoint/2010/main" val="53612216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smtClean="0"/>
              <a:t>Que es MVC	</a:t>
            </a:r>
            <a:endParaRPr lang="es-CR" dirty="0"/>
          </a:p>
        </p:txBody>
      </p:sp>
      <p:sp>
        <p:nvSpPr>
          <p:cNvPr id="3" name="Marcador de contenido 2"/>
          <p:cNvSpPr>
            <a:spLocks noGrp="1"/>
          </p:cNvSpPr>
          <p:nvPr>
            <p:ph idx="1"/>
          </p:nvPr>
        </p:nvSpPr>
        <p:spPr>
          <a:xfrm>
            <a:off x="872197" y="1905000"/>
            <a:ext cx="10632415" cy="4006222"/>
          </a:xfrm>
        </p:spPr>
        <p:txBody>
          <a:bodyPr>
            <a:normAutofit/>
          </a:bodyPr>
          <a:lstStyle/>
          <a:p>
            <a:pPr marL="0" indent="0">
              <a:buNone/>
            </a:pPr>
            <a:r>
              <a:rPr lang="es-CR" dirty="0" err="1"/>
              <a:t>Mvc</a:t>
            </a:r>
            <a:r>
              <a:rPr lang="es-CR" dirty="0"/>
              <a:t> es un patrón </a:t>
            </a:r>
            <a:r>
              <a:rPr lang="es-CR" dirty="0" smtClean="0"/>
              <a:t>estructural, </a:t>
            </a:r>
            <a:r>
              <a:rPr lang="es-CR" dirty="0"/>
              <a:t>el cual plantea la separación del problema en tres </a:t>
            </a:r>
            <a:r>
              <a:rPr lang="es-CR" dirty="0" smtClean="0"/>
              <a:t>capas, el cual desde la versión 3 es la que se usa por default en </a:t>
            </a:r>
            <a:r>
              <a:rPr lang="es-CR" dirty="0" err="1" smtClean="0"/>
              <a:t>.net</a:t>
            </a:r>
            <a:r>
              <a:rPr lang="es-CR" dirty="0" smtClean="0"/>
              <a:t> para desarrollo web </a:t>
            </a:r>
            <a:r>
              <a:rPr lang="es-CR" dirty="0" err="1" smtClean="0"/>
              <a:t>mvc</a:t>
            </a:r>
            <a:r>
              <a:rPr lang="es-CR" dirty="0" smtClean="0"/>
              <a:t>:</a:t>
            </a:r>
          </a:p>
          <a:p>
            <a:pPr marL="0" indent="0">
              <a:buNone/>
            </a:pPr>
            <a:r>
              <a:rPr lang="en-US" dirty="0" err="1" smtClean="0"/>
              <a:t>Esta</a:t>
            </a:r>
            <a:r>
              <a:rPr lang="en-US" dirty="0" smtClean="0"/>
              <a:t> </a:t>
            </a:r>
            <a:r>
              <a:rPr lang="en-US" dirty="0" err="1" smtClean="0"/>
              <a:t>conformado</a:t>
            </a:r>
            <a:r>
              <a:rPr lang="en-US" dirty="0" smtClean="0"/>
              <a:t> </a:t>
            </a:r>
            <a:r>
              <a:rPr lang="en-US" dirty="0" err="1" smtClean="0"/>
              <a:t>por</a:t>
            </a:r>
            <a:r>
              <a:rPr lang="en-US" dirty="0"/>
              <a:t>:</a:t>
            </a:r>
            <a:endParaRPr lang="es-CR" dirty="0"/>
          </a:p>
          <a:p>
            <a:r>
              <a:rPr lang="es-CR" dirty="0" err="1"/>
              <a:t>Model</a:t>
            </a:r>
            <a:r>
              <a:rPr lang="es-CR" dirty="0"/>
              <a:t>: Esta capa representa la realidad y la lógica que se </a:t>
            </a:r>
            <a:r>
              <a:rPr lang="es-CR" dirty="0" smtClean="0"/>
              <a:t>aplicara </a:t>
            </a:r>
            <a:r>
              <a:rPr lang="es-CR" dirty="0"/>
              <a:t>en nuestro </a:t>
            </a:r>
            <a:r>
              <a:rPr lang="es-CR" dirty="0" smtClean="0"/>
              <a:t>sistema, este devuelve al </a:t>
            </a:r>
            <a:r>
              <a:rPr lang="es-CR" dirty="0" err="1" smtClean="0"/>
              <a:t>controller</a:t>
            </a:r>
            <a:r>
              <a:rPr lang="es-CR" dirty="0" smtClean="0"/>
              <a:t> el modelo generado</a:t>
            </a:r>
            <a:endParaRPr lang="es-CR" dirty="0"/>
          </a:p>
          <a:p>
            <a:endParaRPr lang="en-US" dirty="0"/>
          </a:p>
          <a:p>
            <a:endParaRPr lang="es-CR" dirty="0"/>
          </a:p>
          <a:p>
            <a:endParaRPr lang="es-CR"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872197" y="3622837"/>
            <a:ext cx="5552871" cy="2831270"/>
          </a:xfrm>
          <a:prstGeom prst="rect">
            <a:avLst/>
          </a:prstGeom>
        </p:spPr>
      </p:pic>
      <p:pic>
        <p:nvPicPr>
          <p:cNvPr id="6" name="Imagen 5"/>
          <p:cNvPicPr>
            <a:picLocks noChangeAspect="1"/>
          </p:cNvPicPr>
          <p:nvPr/>
        </p:nvPicPr>
        <p:blipFill>
          <a:blip r:embed="rId3"/>
          <a:stretch>
            <a:fillRect/>
          </a:stretch>
        </p:blipFill>
        <p:spPr>
          <a:xfrm>
            <a:off x="6675978" y="3622837"/>
            <a:ext cx="5019070" cy="2831270"/>
          </a:xfrm>
          <a:prstGeom prst="rect">
            <a:avLst/>
          </a:prstGeom>
        </p:spPr>
      </p:pic>
    </p:spTree>
    <p:extLst>
      <p:ext uri="{BB962C8B-B14F-4D97-AF65-F5344CB8AC3E}">
        <p14:creationId xmlns:p14="http://schemas.microsoft.com/office/powerpoint/2010/main" val="146905304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0051" y="483433"/>
            <a:ext cx="8911687" cy="1280890"/>
          </a:xfrm>
        </p:spPr>
        <p:txBody>
          <a:bodyPr/>
          <a:lstStyle/>
          <a:p>
            <a:r>
              <a:rPr lang="es-CR" dirty="0" err="1"/>
              <a:t>Controller</a:t>
            </a:r>
            <a:endParaRPr lang="es-CR" dirty="0"/>
          </a:p>
        </p:txBody>
      </p:sp>
      <p:sp>
        <p:nvSpPr>
          <p:cNvPr id="5" name="Marcador de contenido 2"/>
          <p:cNvSpPr txBox="1">
            <a:spLocks/>
          </p:cNvSpPr>
          <p:nvPr/>
        </p:nvSpPr>
        <p:spPr>
          <a:xfrm>
            <a:off x="1097280" y="1376291"/>
            <a:ext cx="10407332" cy="121802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CR" dirty="0" smtClean="0"/>
              <a:t>Conoce los atributos y métodos del modelo. Capta los eventos producidos por el usuario para así generar el modelo adecuado. Esta conformado por </a:t>
            </a:r>
            <a:r>
              <a:rPr lang="es-CR" dirty="0" err="1" smtClean="0"/>
              <a:t>actions</a:t>
            </a:r>
            <a:r>
              <a:rPr lang="es-CR" dirty="0" smtClean="0"/>
              <a:t> los cuales </a:t>
            </a:r>
            <a:r>
              <a:rPr lang="es-CR" b="1" i="1" u="sng" dirty="0" smtClean="0">
                <a:effectLst>
                  <a:outerShdw blurRad="38100" dist="38100" dir="2700000" algn="tl">
                    <a:srgbClr val="000000">
                      <a:alpha val="43137"/>
                    </a:srgbClr>
                  </a:outerShdw>
                </a:effectLst>
              </a:rPr>
              <a:t>Pueden</a:t>
            </a:r>
            <a:r>
              <a:rPr lang="es-CR" dirty="0" smtClean="0">
                <a:effectLst>
                  <a:outerShdw blurRad="38100" dist="38100" dir="2700000" algn="tl">
                    <a:srgbClr val="000000">
                      <a:alpha val="43137"/>
                    </a:srgbClr>
                  </a:outerShdw>
                </a:effectLst>
              </a:rPr>
              <a:t> </a:t>
            </a:r>
            <a:r>
              <a:rPr lang="es-CR" dirty="0" smtClean="0"/>
              <a:t>generan las vistas(HTML) correspondientes a la acción a realizar o devolver al cliente.</a:t>
            </a:r>
          </a:p>
          <a:p>
            <a:endParaRPr lang="es-CR" dirty="0" smtClean="0"/>
          </a:p>
          <a:p>
            <a:endParaRPr lang="en-US" dirty="0" smtClean="0"/>
          </a:p>
          <a:p>
            <a:endParaRPr lang="es-CR" dirty="0" smtClean="0"/>
          </a:p>
          <a:p>
            <a:endParaRPr lang="es-CR" dirty="0">
              <a:latin typeface="Arial" panose="020B0604020202020204" pitchFamily="34" charset="0"/>
              <a:cs typeface="Arial" panose="020B0604020202020204" pitchFamily="34" charset="0"/>
            </a:endParaRPr>
          </a:p>
        </p:txBody>
      </p:sp>
      <p:pic>
        <p:nvPicPr>
          <p:cNvPr id="8" name="Imagen 7"/>
          <p:cNvPicPr>
            <a:picLocks noChangeAspect="1"/>
          </p:cNvPicPr>
          <p:nvPr/>
        </p:nvPicPr>
        <p:blipFill>
          <a:blip r:embed="rId2"/>
          <a:stretch>
            <a:fillRect/>
          </a:stretch>
        </p:blipFill>
        <p:spPr>
          <a:xfrm>
            <a:off x="1419151" y="2594319"/>
            <a:ext cx="9455175" cy="3760762"/>
          </a:xfrm>
          <a:prstGeom prst="rect">
            <a:avLst/>
          </a:prstGeom>
        </p:spPr>
      </p:pic>
    </p:spTree>
    <p:extLst>
      <p:ext uri="{BB962C8B-B14F-4D97-AF65-F5344CB8AC3E}">
        <p14:creationId xmlns:p14="http://schemas.microsoft.com/office/powerpoint/2010/main" val="372243124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21396" y="736652"/>
            <a:ext cx="1753992" cy="670118"/>
          </a:xfrm>
        </p:spPr>
        <p:txBody>
          <a:bodyPr/>
          <a:lstStyle/>
          <a:p>
            <a:r>
              <a:rPr lang="en-US" dirty="0" smtClean="0"/>
              <a:t>Vista</a:t>
            </a:r>
            <a:endParaRPr lang="es-CR" dirty="0"/>
          </a:p>
        </p:txBody>
      </p:sp>
      <p:sp>
        <p:nvSpPr>
          <p:cNvPr id="3" name="Marcador de contenido 2"/>
          <p:cNvSpPr>
            <a:spLocks noGrp="1"/>
          </p:cNvSpPr>
          <p:nvPr>
            <p:ph idx="1"/>
          </p:nvPr>
        </p:nvSpPr>
        <p:spPr>
          <a:xfrm>
            <a:off x="1801421" y="1899139"/>
            <a:ext cx="8915400" cy="3777622"/>
          </a:xfrm>
        </p:spPr>
        <p:txBody>
          <a:bodyPr>
            <a:normAutofit/>
          </a:bodyPr>
          <a:lstStyle/>
          <a:p>
            <a:r>
              <a:rPr lang="es-CR" dirty="0" smtClean="0"/>
              <a:t>Capa </a:t>
            </a:r>
            <a:r>
              <a:rPr lang="es-CR" dirty="0"/>
              <a:t>que se encarga de mostrar visualmente en pantalla nuestro modelo, generando eventos que son capturados por la capa anterior. Si el modelo cambia la vista mostrara dichos </a:t>
            </a:r>
            <a:r>
              <a:rPr lang="es-CR" dirty="0" smtClean="0"/>
              <a:t>cambios.</a:t>
            </a:r>
          </a:p>
          <a:p>
            <a:r>
              <a:rPr lang="es-CR" dirty="0" smtClean="0"/>
              <a:t>Las vistas usan </a:t>
            </a:r>
            <a:r>
              <a:rPr lang="es-CR" i="1" dirty="0" err="1" smtClean="0"/>
              <a:t>helpers</a:t>
            </a:r>
            <a:r>
              <a:rPr lang="es-CR" i="1" dirty="0" smtClean="0"/>
              <a:t> que se encargan de </a:t>
            </a:r>
            <a:r>
              <a:rPr lang="es-CR" dirty="0" smtClean="0"/>
              <a:t>generar cadenas </a:t>
            </a:r>
            <a:r>
              <a:rPr lang="es-CR" dirty="0"/>
              <a:t>de texto </a:t>
            </a:r>
            <a:r>
              <a:rPr lang="es-CR" dirty="0" smtClean="0"/>
              <a:t>que se pueden convertir en código</a:t>
            </a:r>
            <a:r>
              <a:rPr lang="es-CR" dirty="0"/>
              <a:t> </a:t>
            </a:r>
            <a:r>
              <a:rPr lang="es-CR" i="1" dirty="0" smtClean="0"/>
              <a:t>HTML, scripts…</a:t>
            </a:r>
            <a:r>
              <a:rPr lang="es-CR" dirty="0"/>
              <a:t> de forma simple y </a:t>
            </a:r>
            <a:r>
              <a:rPr lang="es-CR" dirty="0" smtClean="0"/>
              <a:t>parametrizada</a:t>
            </a:r>
          </a:p>
          <a:p>
            <a:r>
              <a:rPr lang="en-US" dirty="0" smtClean="0"/>
              <a:t>Las vistas </a:t>
            </a:r>
            <a:r>
              <a:rPr lang="en-US" dirty="0" err="1" smtClean="0"/>
              <a:t>pueden</a:t>
            </a:r>
            <a:r>
              <a:rPr lang="en-US" dirty="0" smtClean="0"/>
              <a:t> </a:t>
            </a:r>
            <a:r>
              <a:rPr lang="en-US" dirty="0" err="1" smtClean="0"/>
              <a:t>recibir</a:t>
            </a:r>
            <a:r>
              <a:rPr lang="en-US" dirty="0" smtClean="0"/>
              <a:t> un </a:t>
            </a:r>
            <a:r>
              <a:rPr lang="en-US" dirty="0" err="1" smtClean="0"/>
              <a:t>modelo</a:t>
            </a:r>
            <a:r>
              <a:rPr lang="en-US" dirty="0" smtClean="0"/>
              <a:t> </a:t>
            </a:r>
            <a:r>
              <a:rPr lang="en-US" dirty="0" err="1" smtClean="0"/>
              <a:t>enviado</a:t>
            </a:r>
            <a:r>
              <a:rPr lang="en-US" dirty="0" smtClean="0"/>
              <a:t> </a:t>
            </a:r>
            <a:r>
              <a:rPr lang="en-US" dirty="0" err="1" smtClean="0"/>
              <a:t>desde</a:t>
            </a:r>
            <a:r>
              <a:rPr lang="en-US" dirty="0" smtClean="0"/>
              <a:t> </a:t>
            </a:r>
            <a:r>
              <a:rPr lang="en-US" dirty="0" err="1" smtClean="0"/>
              <a:t>su</a:t>
            </a:r>
            <a:r>
              <a:rPr lang="en-US" dirty="0" smtClean="0"/>
              <a:t> </a:t>
            </a:r>
            <a:r>
              <a:rPr lang="en-US" dirty="0" err="1" smtClean="0"/>
              <a:t>controlador</a:t>
            </a:r>
            <a:r>
              <a:rPr lang="en-US" dirty="0" smtClean="0"/>
              <a:t>. Con </a:t>
            </a:r>
            <a:r>
              <a:rPr lang="en-US" dirty="0" err="1" smtClean="0"/>
              <a:t>ayuda</a:t>
            </a:r>
            <a:r>
              <a:rPr lang="en-US" dirty="0" smtClean="0"/>
              <a:t> de </a:t>
            </a:r>
            <a:r>
              <a:rPr lang="en-US" dirty="0" err="1" smtClean="0"/>
              <a:t>los</a:t>
            </a:r>
            <a:r>
              <a:rPr lang="en-US" dirty="0" smtClean="0"/>
              <a:t> helpers o c</a:t>
            </a:r>
            <a:r>
              <a:rPr lang="es-CR" dirty="0" err="1"/>
              <a:t>ó</a:t>
            </a:r>
            <a:r>
              <a:rPr lang="en-US" dirty="0" err="1" smtClean="0"/>
              <a:t>digo</a:t>
            </a:r>
            <a:r>
              <a:rPr lang="en-US" dirty="0" smtClean="0"/>
              <a:t> C# o VB se </a:t>
            </a:r>
            <a:r>
              <a:rPr lang="en-US" dirty="0" err="1" smtClean="0"/>
              <a:t>renderiza</a:t>
            </a:r>
            <a:r>
              <a:rPr lang="en-US" dirty="0" smtClean="0"/>
              <a:t> las </a:t>
            </a:r>
            <a:r>
              <a:rPr lang="en-US" dirty="0" err="1" smtClean="0"/>
              <a:t>propiedades</a:t>
            </a:r>
            <a:r>
              <a:rPr lang="en-US" dirty="0" smtClean="0"/>
              <a:t> de </a:t>
            </a:r>
            <a:r>
              <a:rPr lang="en-US" dirty="0" err="1" smtClean="0"/>
              <a:t>los</a:t>
            </a:r>
            <a:r>
              <a:rPr lang="en-US" dirty="0" smtClean="0"/>
              <a:t> </a:t>
            </a:r>
            <a:r>
              <a:rPr lang="en-US" dirty="0" err="1" smtClean="0"/>
              <a:t>modelos</a:t>
            </a:r>
            <a:r>
              <a:rPr lang="en-US" dirty="0" smtClean="0"/>
              <a:t> </a:t>
            </a:r>
            <a:r>
              <a:rPr lang="en-US" dirty="0" err="1" smtClean="0"/>
              <a:t>en</a:t>
            </a:r>
            <a:r>
              <a:rPr lang="en-US" dirty="0" smtClean="0"/>
              <a:t> el HTML.</a:t>
            </a:r>
            <a:endParaRPr lang="es-CR" dirty="0" smtClean="0"/>
          </a:p>
          <a:p>
            <a:r>
              <a:rPr lang="es-CR" dirty="0" smtClean="0"/>
              <a:t>Mas en:  </a:t>
            </a:r>
            <a:r>
              <a:rPr lang="es-CR" dirty="0" smtClean="0">
                <a:hlinkClick r:id="rId2"/>
              </a:rPr>
              <a:t>https</a:t>
            </a:r>
            <a:r>
              <a:rPr lang="es-CR" dirty="0">
                <a:hlinkClick r:id="rId2"/>
              </a:rPr>
              <a:t>://</a:t>
            </a:r>
            <a:r>
              <a:rPr lang="es-CR" dirty="0" smtClean="0">
                <a:hlinkClick r:id="rId2"/>
              </a:rPr>
              <a:t>docs.microsoft.com/en-us/aspnet/web-pages/overview/ui-layouts-and-themes/creating-and-using-a-helper-in-an-aspnet-web-pages-site</a:t>
            </a:r>
            <a:endParaRPr lang="es-CR" dirty="0" smtClean="0"/>
          </a:p>
          <a:p>
            <a:endParaRPr lang="es-CR" dirty="0"/>
          </a:p>
        </p:txBody>
      </p:sp>
    </p:spTree>
    <p:extLst>
      <p:ext uri="{BB962C8B-B14F-4D97-AF65-F5344CB8AC3E}">
        <p14:creationId xmlns:p14="http://schemas.microsoft.com/office/powerpoint/2010/main" val="269066071"/>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Ejemplo</a:t>
            </a:r>
            <a:r>
              <a:rPr lang="en-US" dirty="0" smtClean="0"/>
              <a:t> de vista con helpers</a:t>
            </a:r>
            <a:endParaRPr lang="es-CR" dirty="0"/>
          </a:p>
        </p:txBody>
      </p:sp>
      <p:pic>
        <p:nvPicPr>
          <p:cNvPr id="4" name="Marcador de contenido 3"/>
          <p:cNvPicPr>
            <a:picLocks noGrp="1" noChangeAspect="1"/>
          </p:cNvPicPr>
          <p:nvPr>
            <p:ph idx="1"/>
          </p:nvPr>
        </p:nvPicPr>
        <p:blipFill>
          <a:blip r:embed="rId2"/>
          <a:stretch>
            <a:fillRect/>
          </a:stretch>
        </p:blipFill>
        <p:spPr>
          <a:xfrm>
            <a:off x="844060" y="1444282"/>
            <a:ext cx="10874328" cy="4976291"/>
          </a:xfrm>
          <a:prstGeom prst="rect">
            <a:avLst/>
          </a:prstGeom>
        </p:spPr>
      </p:pic>
    </p:spTree>
    <p:extLst>
      <p:ext uri="{BB962C8B-B14F-4D97-AF65-F5344CB8AC3E}">
        <p14:creationId xmlns:p14="http://schemas.microsoft.com/office/powerpoint/2010/main" val="14378507"/>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84834" y="444001"/>
            <a:ext cx="8911687" cy="1280890"/>
          </a:xfrm>
        </p:spPr>
        <p:txBody>
          <a:bodyPr/>
          <a:lstStyle/>
          <a:p>
            <a:pPr algn="ctr"/>
            <a:r>
              <a:rPr lang="en-US" dirty="0" err="1" smtClean="0"/>
              <a:t>Ventajas</a:t>
            </a:r>
            <a:endParaRPr lang="es-CR" dirty="0"/>
          </a:p>
        </p:txBody>
      </p:sp>
      <p:sp>
        <p:nvSpPr>
          <p:cNvPr id="3" name="Marcador de contenido 2"/>
          <p:cNvSpPr>
            <a:spLocks noGrp="1"/>
          </p:cNvSpPr>
          <p:nvPr>
            <p:ph idx="1"/>
          </p:nvPr>
        </p:nvSpPr>
        <p:spPr>
          <a:xfrm>
            <a:off x="976745" y="1724891"/>
            <a:ext cx="10527867" cy="4186331"/>
          </a:xfrm>
        </p:spPr>
        <p:txBody>
          <a:bodyPr>
            <a:normAutofit/>
          </a:bodyPr>
          <a:lstStyle/>
          <a:p>
            <a:r>
              <a:rPr lang="es-CR" dirty="0" smtClean="0"/>
              <a:t>Menor acoplamiento : Cuando una aplicación </a:t>
            </a:r>
            <a:r>
              <a:rPr lang="es-CR" dirty="0" smtClean="0"/>
              <a:t>crece, </a:t>
            </a:r>
            <a:r>
              <a:rPr lang="es-CR" dirty="0" smtClean="0"/>
              <a:t>el desarrollo y mantenimiento de los componentes </a:t>
            </a:r>
            <a:r>
              <a:rPr lang="es-CR" dirty="0"/>
              <a:t>puede volverse </a:t>
            </a:r>
            <a:r>
              <a:rPr lang="es-CR" dirty="0" smtClean="0"/>
              <a:t>desastroso, dejando la posibilidad de caer en un alto acoplamiento. MVC al tener bien en claro la funcionalidad de cada uno de sus capas nos provee de un menor acoplamiento entre componentes.</a:t>
            </a:r>
          </a:p>
          <a:p>
            <a:endParaRPr lang="es-CR" dirty="0"/>
          </a:p>
        </p:txBody>
      </p:sp>
      <p:pic>
        <p:nvPicPr>
          <p:cNvPr id="1028" name="Picture 4"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5716" y="3247445"/>
            <a:ext cx="3810000" cy="2762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443667"/>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Ventajas</a:t>
            </a:r>
            <a:endParaRPr lang="es-CR" dirty="0"/>
          </a:p>
        </p:txBody>
      </p:sp>
      <p:sp>
        <p:nvSpPr>
          <p:cNvPr id="3" name="Marcador de contenido 2"/>
          <p:cNvSpPr>
            <a:spLocks noGrp="1"/>
          </p:cNvSpPr>
          <p:nvPr>
            <p:ph idx="1"/>
          </p:nvPr>
        </p:nvSpPr>
        <p:spPr/>
        <p:txBody>
          <a:bodyPr/>
          <a:lstStyle/>
          <a:p>
            <a:r>
              <a:rPr lang="es-CR" dirty="0"/>
              <a:t>Mas fácil para realizar pruebas </a:t>
            </a:r>
            <a:r>
              <a:rPr lang="es-CR" dirty="0" smtClean="0"/>
              <a:t>Unitarias: AL crear un proyecto MVC, se nos ofrece la posibilidad de crear un proyecto de pruebas unitarias.</a:t>
            </a:r>
          </a:p>
          <a:p>
            <a:endParaRPr lang="es-CR" dirty="0"/>
          </a:p>
          <a:p>
            <a:endParaRPr lang="es-CR" dirty="0"/>
          </a:p>
        </p:txBody>
      </p:sp>
      <p:pic>
        <p:nvPicPr>
          <p:cNvPr id="5" name="Imagen 4"/>
          <p:cNvPicPr>
            <a:picLocks noChangeAspect="1"/>
          </p:cNvPicPr>
          <p:nvPr/>
        </p:nvPicPr>
        <p:blipFill>
          <a:blip r:embed="rId2"/>
          <a:stretch>
            <a:fillRect/>
          </a:stretch>
        </p:blipFill>
        <p:spPr>
          <a:xfrm>
            <a:off x="3461409" y="2841673"/>
            <a:ext cx="6552028" cy="3792635"/>
          </a:xfrm>
          <a:prstGeom prst="rect">
            <a:avLst/>
          </a:prstGeom>
        </p:spPr>
      </p:pic>
    </p:spTree>
    <p:extLst>
      <p:ext uri="{BB962C8B-B14F-4D97-AF65-F5344CB8AC3E}">
        <p14:creationId xmlns:p14="http://schemas.microsoft.com/office/powerpoint/2010/main" val="1584402200"/>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62931" y="638177"/>
            <a:ext cx="8911687" cy="1280890"/>
          </a:xfrm>
        </p:spPr>
        <p:txBody>
          <a:bodyPr/>
          <a:lstStyle/>
          <a:p>
            <a:r>
              <a:rPr lang="en-US" dirty="0" err="1" smtClean="0"/>
              <a:t>Ventajas</a:t>
            </a:r>
            <a:endParaRPr lang="es-CR" dirty="0"/>
          </a:p>
        </p:txBody>
      </p:sp>
      <p:sp>
        <p:nvSpPr>
          <p:cNvPr id="3" name="Marcador de contenido 2"/>
          <p:cNvSpPr>
            <a:spLocks noGrp="1"/>
          </p:cNvSpPr>
          <p:nvPr>
            <p:ph idx="1"/>
          </p:nvPr>
        </p:nvSpPr>
        <p:spPr>
          <a:xfrm>
            <a:off x="1762931" y="1655297"/>
            <a:ext cx="8915400" cy="3777622"/>
          </a:xfrm>
        </p:spPr>
        <p:txBody>
          <a:bodyPr/>
          <a:lstStyle/>
          <a:p>
            <a:pPr fontAlgn="base"/>
            <a:r>
              <a:rPr lang="es-CR" dirty="0" smtClean="0"/>
              <a:t>Mayor </a:t>
            </a:r>
            <a:r>
              <a:rPr lang="es-CR" dirty="0"/>
              <a:t>control de lo que se programa: Para desarrollos web nos provee la ventaja de poder trabajar en </a:t>
            </a:r>
            <a:r>
              <a:rPr lang="es-CR" b="1" dirty="0"/>
              <a:t>grandes equipos</a:t>
            </a:r>
            <a:r>
              <a:rPr lang="es-CR" dirty="0"/>
              <a:t> formados por desarrolladores y diseñadores. Al tener la vista completamente separada de la lógica, unos </a:t>
            </a:r>
            <a:r>
              <a:rPr lang="es-CR" b="1" dirty="0"/>
              <a:t>no “interfieren”</a:t>
            </a:r>
            <a:r>
              <a:rPr lang="es-CR" dirty="0"/>
              <a:t> en las tareas de los otros.</a:t>
            </a:r>
          </a:p>
          <a:p>
            <a:endParaRPr lang="es-CR" dirty="0"/>
          </a:p>
        </p:txBody>
      </p:sp>
      <p:pic>
        <p:nvPicPr>
          <p:cNvPr id="5" name="Picture 2" descr="Resultado de imagen para frontend - backen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69611" y="3411559"/>
            <a:ext cx="4614203" cy="3285548"/>
          </a:xfrm>
          <a:prstGeom prst="rect">
            <a:avLst/>
          </a:prstGeom>
          <a:noFill/>
          <a:extLst/>
        </p:spPr>
      </p:pic>
      <p:pic>
        <p:nvPicPr>
          <p:cNvPr id="2052" name="Picture 4" descr="Resultado de imagen para frontend - backe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863" y="3411559"/>
            <a:ext cx="5091747" cy="3285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476180"/>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22255" y="652245"/>
            <a:ext cx="8911687" cy="881133"/>
          </a:xfrm>
        </p:spPr>
        <p:txBody>
          <a:bodyPr/>
          <a:lstStyle/>
          <a:p>
            <a:r>
              <a:rPr lang="en-US" dirty="0" err="1" smtClean="0"/>
              <a:t>Ventaja</a:t>
            </a:r>
            <a:endParaRPr lang="es-CR" dirty="0"/>
          </a:p>
        </p:txBody>
      </p:sp>
      <p:sp>
        <p:nvSpPr>
          <p:cNvPr id="3" name="Marcador de contenido 2"/>
          <p:cNvSpPr>
            <a:spLocks noGrp="1"/>
          </p:cNvSpPr>
          <p:nvPr>
            <p:ph idx="1"/>
          </p:nvPr>
        </p:nvSpPr>
        <p:spPr>
          <a:xfrm>
            <a:off x="1618542" y="1530590"/>
            <a:ext cx="8915400" cy="3777622"/>
          </a:xfrm>
        </p:spPr>
        <p:txBody>
          <a:bodyPr/>
          <a:lstStyle/>
          <a:p>
            <a:r>
              <a:rPr lang="es-CR" dirty="0"/>
              <a:t> Uso de un “</a:t>
            </a:r>
            <a:r>
              <a:rPr lang="es-CR" dirty="0" err="1"/>
              <a:t>FrontController</a:t>
            </a:r>
            <a:r>
              <a:rPr lang="es-CR" dirty="0"/>
              <a:t>” que procesa todas las solicitudes a nuestra aplicación. Esto permite diseñar una infraestructura con un sistema de </a:t>
            </a:r>
            <a:r>
              <a:rPr lang="es-CR" b="1" dirty="0"/>
              <a:t>enrutamiento avanzado</a:t>
            </a:r>
            <a:r>
              <a:rPr lang="es-CR" dirty="0" smtClean="0"/>
              <a:t>.</a:t>
            </a:r>
          </a:p>
          <a:p>
            <a:pPr marL="0" indent="0" algn="ctr">
              <a:buNone/>
            </a:pPr>
            <a:r>
              <a:rPr lang="es-CR" dirty="0" smtClean="0"/>
              <a:t> </a:t>
            </a:r>
            <a:r>
              <a:rPr lang="es-CR" sz="1600" i="1" dirty="0" smtClean="0"/>
              <a:t>“</a:t>
            </a:r>
            <a:r>
              <a:rPr lang="es-CR" sz="1600" i="1" dirty="0"/>
              <a:t>Uno de los pilares básicos de ASP.NET MVC es el concepto de enrutamiento (</a:t>
            </a:r>
            <a:r>
              <a:rPr lang="es-CR" sz="1600" i="1" dirty="0" err="1"/>
              <a:t>routing</a:t>
            </a:r>
            <a:r>
              <a:rPr lang="es-CR" sz="1600" i="1" dirty="0"/>
              <a:t>), lo que permite a las aplicaciones aceptar peticiones a </a:t>
            </a:r>
            <a:r>
              <a:rPr lang="es-CR" sz="1600" i="1" dirty="0">
                <a:hlinkClick r:id="rId2" tooltip="URL"/>
              </a:rPr>
              <a:t>URL</a:t>
            </a:r>
            <a:r>
              <a:rPr lang="es-CR" sz="1600" i="1" dirty="0"/>
              <a:t> que no se corresponden con ficheros físicos en el servidor. Por ejemplo, en </a:t>
            </a:r>
            <a:r>
              <a:rPr lang="es-CR" sz="1600" i="1" dirty="0">
                <a:hlinkClick r:id="rId3" tooltip="ASP.NET Web Forms (aún no redactado)"/>
              </a:rPr>
              <a:t>ASP.NET Web </a:t>
            </a:r>
            <a:r>
              <a:rPr lang="es-CR" sz="1600" i="1" dirty="0" err="1">
                <a:hlinkClick r:id="rId3" tooltip="ASP.NET Web Forms (aún no redactado)"/>
              </a:rPr>
              <a:t>Forms</a:t>
            </a:r>
            <a:r>
              <a:rPr lang="es-CR" sz="1600" i="1" dirty="0"/>
              <a:t> las URL tienen el siguiente formato “http://website/products.aspx?category=dvd” en el que físicamente existe un fichero products.aspx en la raíz del sitio </a:t>
            </a:r>
            <a:r>
              <a:rPr lang="es-CR" sz="1600" i="1" dirty="0" smtClean="0"/>
              <a:t>web” Sacado de  </a:t>
            </a:r>
            <a:r>
              <a:rPr lang="es-CR" sz="1600" i="1" dirty="0" err="1" smtClean="0">
                <a:hlinkClick r:id="rId4"/>
              </a:rPr>
              <a:t>wikipedia</a:t>
            </a:r>
            <a:endParaRPr lang="es-CR" sz="1600" i="1" dirty="0"/>
          </a:p>
          <a:p>
            <a:endParaRPr lang="es-CR" dirty="0"/>
          </a:p>
        </p:txBody>
      </p:sp>
      <p:pic>
        <p:nvPicPr>
          <p:cNvPr id="3074" name="Picture 2" descr="Resultado de imagen para MVC .net rout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4696" y="4000942"/>
            <a:ext cx="5050302" cy="2614539"/>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p:cNvPicPr>
            <a:picLocks noChangeAspect="1"/>
          </p:cNvPicPr>
          <p:nvPr/>
        </p:nvPicPr>
        <p:blipFill>
          <a:blip r:embed="rId6"/>
          <a:stretch>
            <a:fillRect/>
          </a:stretch>
        </p:blipFill>
        <p:spPr>
          <a:xfrm>
            <a:off x="584683" y="4000942"/>
            <a:ext cx="5867333" cy="2614539"/>
          </a:xfrm>
          <a:prstGeom prst="rect">
            <a:avLst/>
          </a:prstGeom>
        </p:spPr>
      </p:pic>
    </p:spTree>
    <p:extLst>
      <p:ext uri="{BB962C8B-B14F-4D97-AF65-F5344CB8AC3E}">
        <p14:creationId xmlns:p14="http://schemas.microsoft.com/office/powerpoint/2010/main" val="1564406465"/>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Desventajas</a:t>
            </a:r>
            <a:endParaRPr lang="es-CR" dirty="0"/>
          </a:p>
        </p:txBody>
      </p:sp>
      <p:sp>
        <p:nvSpPr>
          <p:cNvPr id="3" name="Marcador de contenido 2"/>
          <p:cNvSpPr>
            <a:spLocks noGrp="1"/>
          </p:cNvSpPr>
          <p:nvPr>
            <p:ph idx="1"/>
          </p:nvPr>
        </p:nvSpPr>
        <p:spPr/>
        <p:txBody>
          <a:bodyPr>
            <a:normAutofit fontScale="85000" lnSpcReduction="10000"/>
          </a:bodyPr>
          <a:lstStyle/>
          <a:p>
            <a:r>
              <a:rPr lang="es-CR" dirty="0" smtClean="0"/>
              <a:t>Para </a:t>
            </a:r>
            <a:r>
              <a:rPr lang="es-CR" dirty="0"/>
              <a:t>desarrollar una aplicación bajo el patrón de diseño MVC es necesario una mayor dedicación en los tiempos iniciales del desarrollo. Normalmente el patrón exige al programador desarrollar un mayor número de clases que, en otros entornos de desarrollo, no son necesarias. Sin embargo, esta desventaja es muy relativa ya que posteriormente, en la etapa de mantenimiento de la aplicación, una aplicación MVC es mucho más </a:t>
            </a:r>
            <a:r>
              <a:rPr lang="es-CR" dirty="0" err="1"/>
              <a:t>mantenible</a:t>
            </a:r>
            <a:r>
              <a:rPr lang="es-CR" dirty="0"/>
              <a:t>, extensible y modificable que una aplicación que no lo implementa.</a:t>
            </a:r>
          </a:p>
          <a:p>
            <a:r>
              <a:rPr lang="es-CR" dirty="0"/>
              <a:t>MVC requiere la existencia de una arquitectura inicial sobre la que se deben construir clases e interfaces para modificar y comunicar los módulos de una aplicación. Esta arquitectura inicial debe incluir, por lo menos, un mecanismo de eventos para poder proporcionar las notificaciones que genera el modelo de aplicación; una clase Modelo, otra clase Vista y una clase Controlador genéricas que realicen todas las tareas de comunicación, notificación y actualización que serán luego transparentes para el desarrollo de la aplicación.</a:t>
            </a:r>
          </a:p>
          <a:p>
            <a:r>
              <a:rPr lang="es-CR" dirty="0"/>
              <a:t>MVC es un patrón de diseño orientado a objetos por lo que su implementación es sumamente costosa y difícil en lenguajes que no siguen este paradigma.</a:t>
            </a:r>
          </a:p>
          <a:p>
            <a:r>
              <a:rPr lang="es-CR" dirty="0" err="1" smtClean="0">
                <a:hlinkClick r:id="rId2"/>
              </a:rPr>
              <a:t>Sacadp</a:t>
            </a:r>
            <a:r>
              <a:rPr lang="es-CR" dirty="0" smtClean="0">
                <a:hlinkClick r:id="rId2"/>
              </a:rPr>
              <a:t> de http</a:t>
            </a:r>
            <a:r>
              <a:rPr lang="es-CR" dirty="0">
                <a:hlinkClick r:id="rId2"/>
              </a:rPr>
              <a:t>://</a:t>
            </a:r>
            <a:r>
              <a:rPr lang="es-CR" dirty="0" smtClean="0">
                <a:hlinkClick r:id="rId2"/>
              </a:rPr>
              <a:t>www.juntadeandalucia.es/servicios/madeja/contenido/recurso/122</a:t>
            </a:r>
            <a:endParaRPr lang="es-CR" dirty="0" smtClean="0"/>
          </a:p>
          <a:p>
            <a:endParaRPr lang="es-CR" dirty="0"/>
          </a:p>
        </p:txBody>
      </p:sp>
    </p:spTree>
    <p:extLst>
      <p:ext uri="{BB962C8B-B14F-4D97-AF65-F5344CB8AC3E}">
        <p14:creationId xmlns:p14="http://schemas.microsoft.com/office/powerpoint/2010/main" val="2323359439"/>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smtClean="0"/>
              <a:t>Cuando</a:t>
            </a:r>
            <a:r>
              <a:rPr lang="en-US" dirty="0" smtClean="0"/>
              <a:t> </a:t>
            </a:r>
            <a:r>
              <a:rPr lang="en-US" dirty="0" err="1" smtClean="0"/>
              <a:t>usarlo</a:t>
            </a:r>
            <a:endParaRPr lang="es-CR" dirty="0"/>
          </a:p>
        </p:txBody>
      </p:sp>
      <p:sp>
        <p:nvSpPr>
          <p:cNvPr id="3" name="Marcador de contenido 2"/>
          <p:cNvSpPr>
            <a:spLocks noGrp="1"/>
          </p:cNvSpPr>
          <p:nvPr>
            <p:ph idx="1"/>
          </p:nvPr>
        </p:nvSpPr>
        <p:spPr/>
        <p:txBody>
          <a:bodyPr/>
          <a:lstStyle/>
          <a:p>
            <a:pPr marL="0" indent="0" fontAlgn="base">
              <a:buNone/>
            </a:pPr>
            <a:r>
              <a:rPr lang="en-US" dirty="0" smtClean="0"/>
              <a:t>MVC se </a:t>
            </a:r>
            <a:r>
              <a:rPr lang="en-US" dirty="0" err="1" smtClean="0"/>
              <a:t>puede</a:t>
            </a:r>
            <a:r>
              <a:rPr lang="en-US" dirty="0" smtClean="0"/>
              <a:t> </a:t>
            </a:r>
            <a:r>
              <a:rPr lang="en-US" dirty="0" err="1" smtClean="0"/>
              <a:t>aplicar</a:t>
            </a:r>
            <a:r>
              <a:rPr lang="en-US" dirty="0" smtClean="0"/>
              <a:t> </a:t>
            </a:r>
            <a:r>
              <a:rPr lang="en-US" dirty="0" err="1" smtClean="0"/>
              <a:t>casi</a:t>
            </a:r>
            <a:r>
              <a:rPr lang="en-US" dirty="0" smtClean="0"/>
              <a:t> que </a:t>
            </a:r>
            <a:r>
              <a:rPr lang="en-US" dirty="0" err="1" smtClean="0"/>
              <a:t>en</a:t>
            </a:r>
            <a:r>
              <a:rPr lang="en-US" dirty="0" smtClean="0"/>
              <a:t> </a:t>
            </a:r>
            <a:r>
              <a:rPr lang="en-US" dirty="0" err="1" smtClean="0"/>
              <a:t>cualquier</a:t>
            </a:r>
            <a:r>
              <a:rPr lang="en-US" dirty="0" smtClean="0"/>
              <a:t> </a:t>
            </a:r>
            <a:r>
              <a:rPr lang="en-US" dirty="0" err="1" smtClean="0"/>
              <a:t>tipo</a:t>
            </a:r>
            <a:r>
              <a:rPr lang="en-US" dirty="0" smtClean="0"/>
              <a:t> de Proyecto, </a:t>
            </a:r>
            <a:r>
              <a:rPr lang="en-US" dirty="0" err="1" smtClean="0"/>
              <a:t>pero</a:t>
            </a:r>
            <a:r>
              <a:rPr lang="en-US" dirty="0" smtClean="0"/>
              <a:t> </a:t>
            </a:r>
            <a:r>
              <a:rPr lang="en-US" dirty="0" err="1" smtClean="0"/>
              <a:t>siempre</a:t>
            </a:r>
            <a:r>
              <a:rPr lang="en-US" dirty="0" smtClean="0"/>
              <a:t> </a:t>
            </a:r>
            <a:r>
              <a:rPr lang="en-US" dirty="0" err="1" smtClean="0"/>
              <a:t>es</a:t>
            </a:r>
            <a:r>
              <a:rPr lang="en-US" dirty="0" smtClean="0"/>
              <a:t> </a:t>
            </a:r>
            <a:r>
              <a:rPr lang="en-US" dirty="0" err="1" smtClean="0"/>
              <a:t>mejor</a:t>
            </a:r>
            <a:r>
              <a:rPr lang="en-US" dirty="0" smtClean="0"/>
              <a:t> </a:t>
            </a:r>
            <a:r>
              <a:rPr lang="en-US" dirty="0" err="1" smtClean="0"/>
              <a:t>utilizarlo</a:t>
            </a:r>
            <a:r>
              <a:rPr lang="en-US" dirty="0" smtClean="0"/>
              <a:t> </a:t>
            </a:r>
            <a:r>
              <a:rPr lang="en-US" dirty="0" err="1" smtClean="0"/>
              <a:t>cuando</a:t>
            </a:r>
            <a:r>
              <a:rPr lang="en-US" dirty="0" smtClean="0"/>
              <a:t>:</a:t>
            </a:r>
            <a:endParaRPr lang="es-CR" dirty="0" smtClean="0"/>
          </a:p>
          <a:p>
            <a:pPr fontAlgn="base"/>
            <a:r>
              <a:rPr lang="es-CR" dirty="0" smtClean="0"/>
              <a:t>Si ya conoces de MVC y te sientes cómodo con su uso en desarrollo. </a:t>
            </a:r>
            <a:r>
              <a:rPr lang="es-CR" dirty="0"/>
              <a:t>Si ocurre </a:t>
            </a:r>
            <a:r>
              <a:rPr lang="es-CR" dirty="0" smtClean="0"/>
              <a:t>lo contrario </a:t>
            </a:r>
            <a:r>
              <a:rPr lang="es-CR" dirty="0"/>
              <a:t>y afecta negativamente a tu productividad, deberías buscar otra opción.</a:t>
            </a:r>
          </a:p>
          <a:p>
            <a:pPr fontAlgn="base"/>
            <a:r>
              <a:rPr lang="es-CR" dirty="0" smtClean="0"/>
              <a:t>Necesitas o quieres </a:t>
            </a:r>
            <a:r>
              <a:rPr lang="es-CR" dirty="0"/>
              <a:t>un absoluto </a:t>
            </a:r>
            <a:r>
              <a:rPr lang="es-CR" b="1" dirty="0"/>
              <a:t>control sobre el HTML</a:t>
            </a:r>
            <a:r>
              <a:rPr lang="es-CR" dirty="0"/>
              <a:t> que va a ser </a:t>
            </a:r>
            <a:r>
              <a:rPr lang="es-CR" b="1" i="1" u="sng" dirty="0" err="1"/>
              <a:t>renderizado</a:t>
            </a:r>
            <a:r>
              <a:rPr lang="es-CR" b="1" i="1" u="sng" dirty="0"/>
              <a:t> en el navegador </a:t>
            </a:r>
            <a:r>
              <a:rPr lang="es-CR" dirty="0"/>
              <a:t>y no es un problema el tiempo que tengas que dedicar en crear las vistas.</a:t>
            </a:r>
          </a:p>
          <a:p>
            <a:pPr fontAlgn="base"/>
            <a:r>
              <a:rPr lang="es-CR" dirty="0" smtClean="0"/>
              <a:t>Necesitas </a:t>
            </a:r>
            <a:r>
              <a:rPr lang="es-CR" dirty="0"/>
              <a:t>crear </a:t>
            </a:r>
            <a:r>
              <a:rPr lang="es-CR" b="1" dirty="0"/>
              <a:t>test unitarios</a:t>
            </a:r>
            <a:r>
              <a:rPr lang="es-CR" dirty="0"/>
              <a:t> eficientes para la interfaz de usuario.</a:t>
            </a:r>
          </a:p>
          <a:p>
            <a:pPr fontAlgn="base"/>
            <a:r>
              <a:rPr lang="es-CR" dirty="0" smtClean="0"/>
              <a:t>Deseas </a:t>
            </a:r>
            <a:r>
              <a:rPr lang="es-CR" dirty="0"/>
              <a:t>tener un control total sobre como las </a:t>
            </a:r>
            <a:r>
              <a:rPr lang="es-CR" dirty="0" err="1"/>
              <a:t>URLs</a:t>
            </a:r>
            <a:r>
              <a:rPr lang="es-CR" dirty="0"/>
              <a:t> serán </a:t>
            </a:r>
            <a:r>
              <a:rPr lang="es-CR" b="1" dirty="0" smtClean="0"/>
              <a:t>formateadas o mostradas en el navegador</a:t>
            </a:r>
            <a:r>
              <a:rPr lang="es-CR" dirty="0" smtClean="0"/>
              <a:t>.</a:t>
            </a:r>
            <a:endParaRPr lang="es-CR" dirty="0"/>
          </a:p>
          <a:p>
            <a:endParaRPr lang="es-CR" dirty="0"/>
          </a:p>
        </p:txBody>
      </p:sp>
    </p:spTree>
    <p:extLst>
      <p:ext uri="{BB962C8B-B14F-4D97-AF65-F5344CB8AC3E}">
        <p14:creationId xmlns:p14="http://schemas.microsoft.com/office/powerpoint/2010/main" val="3765627657"/>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81557" y="946081"/>
            <a:ext cx="8911687" cy="1280890"/>
          </a:xfrm>
        </p:spPr>
        <p:txBody>
          <a:bodyPr/>
          <a:lstStyle/>
          <a:p>
            <a:r>
              <a:rPr lang="es-CR" dirty="0"/>
              <a:t>¿</a:t>
            </a:r>
            <a:r>
              <a:rPr lang="es-CR" dirty="0" smtClean="0"/>
              <a:t>Cuando</a:t>
            </a:r>
            <a:r>
              <a:rPr lang="en-US" dirty="0" smtClean="0"/>
              <a:t> </a:t>
            </a:r>
            <a:r>
              <a:rPr lang="en-US" dirty="0" smtClean="0"/>
              <a:t>no </a:t>
            </a:r>
            <a:r>
              <a:rPr lang="en-US" dirty="0" err="1" smtClean="0"/>
              <a:t>usarlo</a:t>
            </a:r>
            <a:r>
              <a:rPr lang="en-US" dirty="0" smtClean="0"/>
              <a:t>?</a:t>
            </a:r>
            <a:endParaRPr lang="es-CR" dirty="0"/>
          </a:p>
        </p:txBody>
      </p:sp>
      <p:sp>
        <p:nvSpPr>
          <p:cNvPr id="3" name="Marcador de contenido 2"/>
          <p:cNvSpPr>
            <a:spLocks noGrp="1"/>
          </p:cNvSpPr>
          <p:nvPr>
            <p:ph idx="1"/>
          </p:nvPr>
        </p:nvSpPr>
        <p:spPr>
          <a:xfrm>
            <a:off x="1571781" y="2614410"/>
            <a:ext cx="8915400" cy="3068211"/>
          </a:xfrm>
        </p:spPr>
        <p:txBody>
          <a:bodyPr/>
          <a:lstStyle/>
          <a:p>
            <a:r>
              <a:rPr lang="es-CR" dirty="0"/>
              <a:t>Si tu web es más enfocado en SPA (</a:t>
            </a:r>
            <a:r>
              <a:rPr lang="es-CR" dirty="0" err="1"/>
              <a:t>singe</a:t>
            </a:r>
            <a:r>
              <a:rPr lang="es-CR" dirty="0"/>
              <a:t> Page </a:t>
            </a:r>
            <a:r>
              <a:rPr lang="es-CR" dirty="0" err="1"/>
              <a:t>Aplication</a:t>
            </a:r>
            <a:r>
              <a:rPr lang="es-CR" dirty="0"/>
              <a:t>) o API,  la cual por “x” motivo la lógica de interacción del sitio está presente en el </a:t>
            </a:r>
            <a:r>
              <a:rPr lang="es-CR" dirty="0" err="1"/>
              <a:t>front-end</a:t>
            </a:r>
            <a:r>
              <a:rPr lang="es-CR" dirty="0"/>
              <a:t>, no tendría caso utilizar MVC, sino más bien  algún </a:t>
            </a:r>
            <a:r>
              <a:rPr lang="es-CR" dirty="0" err="1"/>
              <a:t>framework</a:t>
            </a:r>
            <a:r>
              <a:rPr lang="es-CR" dirty="0"/>
              <a:t> basado en </a:t>
            </a:r>
            <a:r>
              <a:rPr lang="es-CR" dirty="0" err="1"/>
              <a:t>frontEnd</a:t>
            </a:r>
            <a:r>
              <a:rPr lang="es-CR" dirty="0"/>
              <a:t> como </a:t>
            </a:r>
            <a:r>
              <a:rPr lang="es-CR" dirty="0" err="1"/>
              <a:t>Emberjs</a:t>
            </a:r>
            <a:r>
              <a:rPr lang="es-CR" dirty="0"/>
              <a:t>, Angular , </a:t>
            </a:r>
            <a:r>
              <a:rPr lang="es-CR" dirty="0" err="1"/>
              <a:t>BackBone</a:t>
            </a:r>
            <a:r>
              <a:rPr lang="es-CR" dirty="0"/>
              <a:t>  la cual </a:t>
            </a:r>
            <a:r>
              <a:rPr lang="es-CR" dirty="0" smtClean="0"/>
              <a:t>controlaría </a:t>
            </a:r>
            <a:r>
              <a:rPr lang="es-CR" dirty="0"/>
              <a:t>dicha lógica…</a:t>
            </a:r>
          </a:p>
          <a:p>
            <a:endParaRPr lang="es-CR" dirty="0"/>
          </a:p>
        </p:txBody>
      </p:sp>
    </p:spTree>
    <p:extLst>
      <p:ext uri="{BB962C8B-B14F-4D97-AF65-F5344CB8AC3E}">
        <p14:creationId xmlns:p14="http://schemas.microsoft.com/office/powerpoint/2010/main" val="1544055141"/>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a 16"/>
          <p:cNvGraphicFramePr/>
          <p:nvPr>
            <p:extLst>
              <p:ext uri="{D42A27DB-BD31-4B8C-83A1-F6EECF244321}">
                <p14:modId xmlns:p14="http://schemas.microsoft.com/office/powerpoint/2010/main" val="3106354138"/>
              </p:ext>
            </p:extLst>
          </p:nvPr>
        </p:nvGraphicFramePr>
        <p:xfrm>
          <a:off x="3348361" y="1645334"/>
          <a:ext cx="3733691" cy="2832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ítulo 1"/>
          <p:cNvSpPr>
            <a:spLocks noGrp="1"/>
          </p:cNvSpPr>
          <p:nvPr>
            <p:ph type="title"/>
          </p:nvPr>
        </p:nvSpPr>
        <p:spPr/>
        <p:txBody>
          <a:bodyPr/>
          <a:lstStyle/>
          <a:p>
            <a:r>
              <a:rPr lang="es-CR" dirty="0" smtClean="0"/>
              <a:t>Flujo típico de proyecto MVC  ASP.NET</a:t>
            </a:r>
            <a:endParaRPr lang="es-CR" dirty="0"/>
          </a:p>
        </p:txBody>
      </p:sp>
      <p:sp>
        <p:nvSpPr>
          <p:cNvPr id="9" name="Rectángulo 8"/>
          <p:cNvSpPr/>
          <p:nvPr/>
        </p:nvSpPr>
        <p:spPr>
          <a:xfrm>
            <a:off x="2846532" y="4759941"/>
            <a:ext cx="1635617" cy="563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Vista (HTML y C# o VB)</a:t>
            </a:r>
            <a:endParaRPr lang="es-CR" dirty="0"/>
          </a:p>
        </p:txBody>
      </p:sp>
      <p:sp>
        <p:nvSpPr>
          <p:cNvPr id="14" name="Flecha derecha 13"/>
          <p:cNvSpPr/>
          <p:nvPr/>
        </p:nvSpPr>
        <p:spPr>
          <a:xfrm>
            <a:off x="2769808" y="1645334"/>
            <a:ext cx="2067100" cy="1167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Realiza</a:t>
            </a:r>
            <a:r>
              <a:rPr lang="en-US" dirty="0" smtClean="0"/>
              <a:t> </a:t>
            </a:r>
            <a:r>
              <a:rPr lang="en-US" dirty="0" err="1" smtClean="0"/>
              <a:t>petici</a:t>
            </a:r>
            <a:r>
              <a:rPr lang="es-CR" dirty="0" err="1"/>
              <a:t>ó</a:t>
            </a:r>
            <a:r>
              <a:rPr lang="en-US" dirty="0" smtClean="0"/>
              <a:t>n Http</a:t>
            </a:r>
            <a:endParaRPr lang="es-CR" dirty="0"/>
          </a:p>
        </p:txBody>
      </p:sp>
      <p:sp>
        <p:nvSpPr>
          <p:cNvPr id="15" name="Cara sonriente 14"/>
          <p:cNvSpPr/>
          <p:nvPr/>
        </p:nvSpPr>
        <p:spPr>
          <a:xfrm>
            <a:off x="1062570" y="1602985"/>
            <a:ext cx="1388792" cy="1252024"/>
          </a:xfrm>
          <a:prstGeom prst="smileyFac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Usuario</a:t>
            </a:r>
            <a:endParaRPr lang="es-CR" dirty="0"/>
          </a:p>
        </p:txBody>
      </p:sp>
      <p:cxnSp>
        <p:nvCxnSpPr>
          <p:cNvPr id="19" name="Conector recto de flecha 18"/>
          <p:cNvCxnSpPr/>
          <p:nvPr/>
        </p:nvCxnSpPr>
        <p:spPr>
          <a:xfrm flipH="1">
            <a:off x="3803358" y="2926224"/>
            <a:ext cx="1631863" cy="1716114"/>
          </a:xfrm>
          <a:prstGeom prst="straightConnector1">
            <a:avLst/>
          </a:prstGeom>
          <a:ln w="698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p:cNvCxnSpPr>
            <a:stCxn id="9" idx="0"/>
            <a:endCxn id="15" idx="4"/>
          </p:cNvCxnSpPr>
          <p:nvPr/>
        </p:nvCxnSpPr>
        <p:spPr>
          <a:xfrm flipH="1" flipV="1">
            <a:off x="1756966" y="2855009"/>
            <a:ext cx="1907375" cy="1904932"/>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28" name="Flecha derecha 27"/>
          <p:cNvSpPr/>
          <p:nvPr/>
        </p:nvSpPr>
        <p:spPr>
          <a:xfrm>
            <a:off x="7031259" y="1788576"/>
            <a:ext cx="1957996" cy="5466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Genera</a:t>
            </a:r>
            <a:endParaRPr lang="es-CR" dirty="0"/>
          </a:p>
        </p:txBody>
      </p:sp>
      <p:sp>
        <p:nvSpPr>
          <p:cNvPr id="36" name="Flecha derecha 35"/>
          <p:cNvSpPr/>
          <p:nvPr/>
        </p:nvSpPr>
        <p:spPr>
          <a:xfrm rot="10800000">
            <a:off x="7031259" y="2391177"/>
            <a:ext cx="1817319" cy="5466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dirty="0"/>
          </a:p>
        </p:txBody>
      </p:sp>
      <p:sp>
        <p:nvSpPr>
          <p:cNvPr id="39" name="Rectángulo 38"/>
          <p:cNvSpPr/>
          <p:nvPr/>
        </p:nvSpPr>
        <p:spPr>
          <a:xfrm>
            <a:off x="9285183" y="1968743"/>
            <a:ext cx="1898423" cy="843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Modelo</a:t>
            </a:r>
            <a:endParaRPr lang="es-CR" dirty="0"/>
          </a:p>
        </p:txBody>
      </p:sp>
      <p:sp>
        <p:nvSpPr>
          <p:cNvPr id="45" name="CuadroTexto 44"/>
          <p:cNvSpPr txBox="1"/>
          <p:nvPr/>
        </p:nvSpPr>
        <p:spPr>
          <a:xfrm>
            <a:off x="7377980" y="2478479"/>
            <a:ext cx="1831387" cy="369332"/>
          </a:xfrm>
          <a:prstGeom prst="rect">
            <a:avLst/>
          </a:prstGeom>
          <a:noFill/>
        </p:spPr>
        <p:txBody>
          <a:bodyPr wrap="square" rtlCol="0">
            <a:spAutoFit/>
          </a:bodyPr>
          <a:lstStyle/>
          <a:p>
            <a:r>
              <a:rPr lang="en-US" dirty="0" err="1" smtClean="0"/>
              <a:t>Retorna</a:t>
            </a:r>
            <a:endParaRPr lang="es-CR" dirty="0"/>
          </a:p>
        </p:txBody>
      </p:sp>
    </p:spTree>
    <p:extLst>
      <p:ext uri="{BB962C8B-B14F-4D97-AF65-F5344CB8AC3E}">
        <p14:creationId xmlns:p14="http://schemas.microsoft.com/office/powerpoint/2010/main" val="4288397395"/>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smtClean="0"/>
              <a:t>Estructura</a:t>
            </a:r>
            <a:r>
              <a:rPr lang="en-US" dirty="0" smtClean="0"/>
              <a:t> de un Proyecto MVC </a:t>
            </a:r>
            <a:r>
              <a:rPr lang="en-US" dirty="0" err="1" smtClean="0"/>
              <a:t>.Net</a:t>
            </a:r>
            <a:endParaRPr lang="es-CR" dirty="0"/>
          </a:p>
        </p:txBody>
      </p:sp>
      <p:pic>
        <p:nvPicPr>
          <p:cNvPr id="4" name="Marcador de contenido 3"/>
          <p:cNvPicPr>
            <a:picLocks noGrp="1" noChangeAspect="1"/>
          </p:cNvPicPr>
          <p:nvPr>
            <p:ph idx="1"/>
          </p:nvPr>
        </p:nvPicPr>
        <p:blipFill>
          <a:blip r:embed="rId2"/>
          <a:stretch>
            <a:fillRect/>
          </a:stretch>
        </p:blipFill>
        <p:spPr>
          <a:xfrm>
            <a:off x="4468969" y="1712891"/>
            <a:ext cx="2955537" cy="4749269"/>
          </a:xfrm>
          <a:prstGeom prst="rect">
            <a:avLst/>
          </a:prstGeom>
        </p:spPr>
      </p:pic>
    </p:spTree>
    <p:extLst>
      <p:ext uri="{BB962C8B-B14F-4D97-AF65-F5344CB8AC3E}">
        <p14:creationId xmlns:p14="http://schemas.microsoft.com/office/powerpoint/2010/main" val="3116079384"/>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Espiral">
  <a:themeElements>
    <a:clrScheme name="Personalizado 2">
      <a:dk1>
        <a:sysClr val="windowText" lastClr="000000"/>
      </a:dk1>
      <a:lt1>
        <a:sysClr val="window" lastClr="FFFFFF"/>
      </a:lt1>
      <a:dk2>
        <a:srgbClr val="323232"/>
      </a:dk2>
      <a:lt2>
        <a:srgbClr val="E5C243"/>
      </a:lt2>
      <a:accent1>
        <a:srgbClr val="7030A0"/>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docProps/app.xml><?xml version="1.0" encoding="utf-8"?>
<Properties xmlns="http://schemas.openxmlformats.org/officeDocument/2006/extended-properties" xmlns:vt="http://schemas.openxmlformats.org/officeDocument/2006/docPropsVTypes">
  <Template>Wisp</Template>
  <TotalTime>392</TotalTime>
  <Words>640</Words>
  <Application>Microsoft Office PowerPoint</Application>
  <PresentationFormat>Panorámica</PresentationFormat>
  <Paragraphs>48</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Century Gothic</vt:lpstr>
      <vt:lpstr>Wingdings 3</vt:lpstr>
      <vt:lpstr>Espiral</vt:lpstr>
      <vt:lpstr>MVC</vt:lpstr>
      <vt:lpstr>Que es MVC </vt:lpstr>
      <vt:lpstr>Controller</vt:lpstr>
      <vt:lpstr>Vista</vt:lpstr>
      <vt:lpstr>Ejemplo de vista con helpers</vt:lpstr>
      <vt:lpstr>Ventajas</vt:lpstr>
      <vt:lpstr>Ventajas</vt:lpstr>
      <vt:lpstr>Ventajas</vt:lpstr>
      <vt:lpstr>Ventaja</vt:lpstr>
      <vt:lpstr>Desventajas</vt:lpstr>
      <vt:lpstr>Cuando usarlo</vt:lpstr>
      <vt:lpstr>¿Cuando no usarlo?</vt:lpstr>
      <vt:lpstr>Flujo típico de proyecto MVC  ASP.NET</vt:lpstr>
      <vt:lpstr>Estructura de un Proyecto MVC .Net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MVC</dc:title>
  <dc:creator>Javier Sanchez Ramirez</dc:creator>
  <cp:lastModifiedBy>Javier Sanchez Ramirez</cp:lastModifiedBy>
  <cp:revision>23</cp:revision>
  <dcterms:created xsi:type="dcterms:W3CDTF">2018-03-20T14:50:38Z</dcterms:created>
  <dcterms:modified xsi:type="dcterms:W3CDTF">2018-03-20T21:23:06Z</dcterms:modified>
</cp:coreProperties>
</file>